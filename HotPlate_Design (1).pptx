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3" r:id="rId9"/>
    <p:sldId id="268" r:id="rId10"/>
    <p:sldId id="264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3B3FF4-60E0-42FB-83D9-EF8F5DA03BBC}">
          <p14:sldIdLst>
            <p14:sldId id="256"/>
            <p14:sldId id="257"/>
            <p14:sldId id="258"/>
            <p14:sldId id="269"/>
          </p14:sldIdLst>
        </p14:section>
        <p14:section name="Untitled Section" id="{A3D3ABFD-2135-4B41-946D-F5E2774DE0C8}">
          <p14:sldIdLst>
            <p14:sldId id="259"/>
            <p14:sldId id="260"/>
            <p14:sldId id="261"/>
            <p14:sldId id="263"/>
            <p14:sldId id="268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83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Uniformity Hot Plate for Wafer 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1280160" cy="54864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Plate Design Report  |Dhruv Rao, 26B1818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9379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Specifications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19411"/>
              </p:ext>
            </p:extLst>
          </p:nvPr>
        </p:nvGraphicFramePr>
        <p:xfrm>
          <a:off x="457199" y="1097279"/>
          <a:ext cx="7863191" cy="2904030"/>
        </p:xfrm>
        <a:graphic>
          <a:graphicData uri="http://schemas.openxmlformats.org/drawingml/2006/table">
            <a:tbl>
              <a:tblPr/>
              <a:tblGrid>
                <a:gridCol w="3537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Wafer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4 inches (100 mm) usable 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temp to 400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Accuracy(Run to Run repeatability)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Deviation ( Uniformity)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 C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surface flatness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≤</a:t>
                      </a: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500" dirty="0"/>
              <a:t>Since the wafer proposed is 100 mm in measure, a 150mm hotplate will be used. Wafer area on hotplate broken into a grid of 25 intersecting current carrying channels using both a </a:t>
            </a:r>
            <a:r>
              <a:rPr lang="en-US" sz="1500" dirty="0" err="1"/>
              <a:t>pcb</a:t>
            </a:r>
            <a:r>
              <a:rPr lang="en-US" sz="1500" dirty="0"/>
              <a:t> board providing each cartridge heater with its own PWM signal input and 24V supply lines with GND cables(More on this in Slide 4). A thermal imaging camera capable of measuring temperature variance of 40-50mK is constantly taking framed pictures of hotplate once it reaches steady state of 400 C and is transmitting data to PID controller which translates the images into a temperature grid thus letting it know which heaters to </a:t>
            </a:r>
            <a:r>
              <a:rPr lang="en-US" sz="1500"/>
              <a:t>crank up to </a:t>
            </a:r>
            <a:r>
              <a:rPr lang="en-US" sz="1500" dirty="0"/>
              <a:t>maintain temperature throughout wafer . This reduces thermal gradient and prevents thermal stress in wafer during baking process. It does this by sending different </a:t>
            </a:r>
            <a:r>
              <a:rPr lang="en-US" sz="1500" dirty="0" err="1"/>
              <a:t>pwm</a:t>
            </a:r>
            <a:r>
              <a:rPr lang="en-US" sz="1500" dirty="0"/>
              <a:t> outputs through 2 16-channel PWM drivers to the cartridge heater/s at the target areas and using MOSFETs as the switches and current amplifiers for each heater. Since the plate is chosen to be of greater area, edge heat runoff is not a big concern of ours. The PID controller will ensure minimum deviation in temperature throughout wafer surface and will also ensure translation of temperature variation data retrieved from thermal camera.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D8D46D-B7BB-607E-9215-4D0245FCFB37}"/>
              </a:ext>
            </a:extLst>
          </p:cNvPr>
          <p:cNvSpPr txBox="1"/>
          <p:nvPr/>
        </p:nvSpPr>
        <p:spPr>
          <a:xfrm>
            <a:off x="382621" y="233465"/>
            <a:ext cx="391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Circuit Work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3DDF4-E531-AC2C-E8DC-1BC92981FC6D}"/>
              </a:ext>
            </a:extLst>
          </p:cNvPr>
          <p:cNvSpPr txBox="1"/>
          <p:nvPr/>
        </p:nvSpPr>
        <p:spPr>
          <a:xfrm>
            <a:off x="382621" y="1348903"/>
            <a:ext cx="8540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it will be 5 parallel wires running horizontally each providing +24 </a:t>
            </a:r>
            <a:r>
              <a:rPr lang="en-US" dirty="0" err="1"/>
              <a:t>Vc</a:t>
            </a:r>
            <a:r>
              <a:rPr lang="en-US" dirty="0"/>
              <a:t> to the </a:t>
            </a:r>
            <a:r>
              <a:rPr lang="en-US" dirty="0" err="1"/>
              <a:t>mosfet</a:t>
            </a:r>
            <a:r>
              <a:rPr lang="en-US" dirty="0"/>
              <a:t> and thus the heater and 5 vertically for the ground. The 25 separate PWM inputs for each base of the </a:t>
            </a:r>
            <a:r>
              <a:rPr lang="en-US" dirty="0" err="1"/>
              <a:t>mosfet</a:t>
            </a:r>
            <a:r>
              <a:rPr lang="en-US" dirty="0"/>
              <a:t> will be drawn from 1 of 2 16-channel PWM drivers through soldering on a PCB board. The circuit diagram is shown below.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6F13A-224F-B228-5647-4BF6CD72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48" y="2571750"/>
            <a:ext cx="2970180" cy="2585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6DA267-CAF3-8D1D-55D5-17EE2FFFF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8753" r="-740" b="29652"/>
          <a:stretch>
            <a:fillRect/>
          </a:stretch>
        </p:blipFill>
        <p:spPr>
          <a:xfrm>
            <a:off x="5069803" y="2594269"/>
            <a:ext cx="3770551" cy="213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2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Thermal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material: (</a:t>
            </a:r>
            <a:r>
              <a:rPr lang="en-US" sz="15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Plate side length(150mm);  Thickness(25mm)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type and layout: (cartridge, multi-zone)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Cartridge heaters in 5x5 grid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 = mass x specific heat x dT / ramp time + losses leads to about 40 W per heater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analysis: Using thermal camera during baking.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Electrical and Control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Circuit: Thermal Camera (more cost efficient), 25 heaters and fiberglass cables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Self made with raspberry pi zero 2W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stage and safety: SSR switch, fuse, independent over-temperature cutoff, earthing, enclosure.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Mechanical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views: isometric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grooves and ridges for cartridge heaters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location features, cable routing, enclosure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drawing of the plate with dimensions and tolerances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Flatness (+/- 10 um)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500" dirty="0"/>
              <a:t>Making an extremely flat </a:t>
            </a:r>
            <a:r>
              <a:rPr lang="en-US" sz="1500" dirty="0" err="1"/>
              <a:t>aluminium</a:t>
            </a:r>
            <a:r>
              <a:rPr lang="en-US" sz="1500" dirty="0"/>
              <a:t> plate is tedious and requires technology which isn’t available in the fab</a:t>
            </a:r>
            <a:br>
              <a:rPr lang="en-US" sz="1500" dirty="0"/>
            </a:br>
            <a:r>
              <a:rPr lang="en-US" sz="1500" dirty="0"/>
              <a:t>I would buy the Mic-6 </a:t>
            </a:r>
            <a:r>
              <a:rPr lang="en-US" sz="1500" dirty="0" err="1"/>
              <a:t>aluminium</a:t>
            </a:r>
            <a:r>
              <a:rPr lang="en-US" sz="1500" dirty="0"/>
              <a:t> plate from </a:t>
            </a:r>
            <a:r>
              <a:rPr lang="en-US" sz="1500" dirty="0" err="1"/>
              <a:t>IndiaMart</a:t>
            </a:r>
            <a:r>
              <a:rPr lang="en-US" sz="1500" dirty="0"/>
              <a:t>. A local supplier is crucial and India mart supplies for 500Rs./kg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500" dirty="0"/>
              <a:t>This plate is made with very tight tolerances which lie within our 10 </a:t>
            </a:r>
            <a:r>
              <a:rPr lang="en-US" sz="1500" dirty="0" err="1"/>
              <a:t>micrometre</a:t>
            </a:r>
            <a:r>
              <a:rPr lang="en-US" sz="1500" dirty="0"/>
              <a:t> threshold and will be used for our hotplate.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A4C031-8408-FA14-A9D2-D7E71518B1BF}"/>
              </a:ext>
            </a:extLst>
          </p:cNvPr>
          <p:cNvSpPr txBox="1"/>
          <p:nvPr/>
        </p:nvSpPr>
        <p:spPr>
          <a:xfrm>
            <a:off x="246434" y="145303"/>
            <a:ext cx="3271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Run to Run Repeatability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D46C6-8A92-92F2-D3DA-70030F39C54F}"/>
              </a:ext>
            </a:extLst>
          </p:cNvPr>
          <p:cNvSpPr txBox="1"/>
          <p:nvPr/>
        </p:nvSpPr>
        <p:spPr>
          <a:xfrm>
            <a:off x="434501" y="1394297"/>
            <a:ext cx="84954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Install 2 PT100s sensors (rated for 450 C) on the plate. These sensors have a resistance inside them which change with change in temperature thus enabling us to get absolute readings of temperature.</a:t>
            </a:r>
            <a:br>
              <a:rPr lang="en-US" dirty="0"/>
            </a:br>
            <a:r>
              <a:rPr lang="en-US" dirty="0"/>
              <a:t>Relay this information back to the raspberry pi to properly fix the start point for the run. </a:t>
            </a:r>
            <a:br>
              <a:rPr lang="en-US" dirty="0"/>
            </a:br>
            <a:r>
              <a:rPr lang="en-US" dirty="0"/>
              <a:t>Container in which baking occurs should also be maintained at a fixed temperature so as to regulate temperature deviation in hotplate even before the run starts.</a:t>
            </a:r>
          </a:p>
          <a:p>
            <a:endParaRPr lang="en-US" dirty="0"/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53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Bill of Materials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860181"/>
              </p:ext>
            </p:extLst>
          </p:nvPr>
        </p:nvGraphicFramePr>
        <p:xfrm>
          <a:off x="457200" y="1097280"/>
          <a:ext cx="8229600" cy="3444240"/>
        </p:xfrm>
        <a:graphic>
          <a:graphicData uri="http://schemas.openxmlformats.org/drawingml/2006/table">
            <a:tbl>
              <a:tblPr/>
              <a:tblGrid>
                <a:gridCol w="213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(INR)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MIC 6 </a:t>
                      </a: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Aluminium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 Plate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&lt;5k (500/kg)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IndiaMart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Cartridge Heaters (100W)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&lt;15k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IndiaMart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Thermal camera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~20k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Amazon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PID algorithm controller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&lt;1.5k(raspberry pi zero 2W)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Made in fab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/ power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50 Ampere power switch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~1.2k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IndiaMart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MOSFETS, heat sinks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Standard issue </a:t>
                      </a: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mosfets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~5k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731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 + wiring(high heat)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Calcium silicate + </a:t>
                      </a: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FibreGlass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 cables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~1k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IndiaMart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PT 100s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Heat sensors for accurate temperature measurement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~2-4k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0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24V power supply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24 volt supply for 25 heaters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~10k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972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PWM driver boards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16-channel </a:t>
                      </a:r>
                      <a:r>
                        <a:rPr lang="en-US" sz="11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pwm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 driver boards 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~500-1k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95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~62k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ME 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  <a:sym typeface="Wingdings" panose="05000000000000000000" pitchFamily="2" charset="2"/>
                        </a:rPr>
                        <a:t> (i can do math)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Assembly Instructions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inspect the plate (flatness, hole positions)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heater(s) and sensor(s)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plate on thermal-isolation standoffs, fit insulation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power stage and safety cutoffs; connect controller and camera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power-up checks, then calibration and tuning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Risks, Conclusion and 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limitations: oxidation, warping at 400 C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catches noise which has nothing to do with the wafer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fulfills the 0.5C I checked by running a simulation on a standard LLM (Claude and </a:t>
            </a:r>
            <a:r>
              <a:rPr lang="en-US" sz="15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LLMs, Wikipedia, </a:t>
            </a:r>
            <a:r>
              <a:rPr lang="en-US" sz="15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allaboutcircuits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917</Words>
  <Application>Microsoft Office PowerPoint</Application>
  <PresentationFormat>On-screen Show (16:9)</PresentationFormat>
  <Paragraphs>126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Plate Design Report Template</dc:title>
  <dc:subject>PptxGenJS Presentation</dc:subject>
  <dc:creator>PptxGenJS</dc:creator>
  <cp:lastModifiedBy>Jayashre Rao</cp:lastModifiedBy>
  <cp:revision>7</cp:revision>
  <dcterms:created xsi:type="dcterms:W3CDTF">2026-10-24T18:21:35Z</dcterms:created>
  <dcterms:modified xsi:type="dcterms:W3CDTF">2026-10-25T10:23:16Z</dcterms:modified>
</cp:coreProperties>
</file>