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3" r:id="rId8"/>
    <p:sldId id="268" r:id="rId9"/>
    <p:sldId id="264" r:id="rId10"/>
    <p:sldId id="265"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33B3FF4-60E0-42FB-83D9-EF8F5DA03BBC}">
          <p14:sldIdLst>
            <p14:sldId id="256"/>
            <p14:sldId id="257"/>
            <p14:sldId id="258"/>
          </p14:sldIdLst>
        </p14:section>
        <p14:section name="Untitled Section" id="{A3D3ABFD-2135-4B41-946D-F5E2774DE0C8}">
          <p14:sldIdLst>
            <p14:sldId id="259"/>
            <p14:sldId id="260"/>
            <p14:sldId id="261"/>
            <p14:sldId id="263"/>
            <p14:sldId id="268"/>
            <p14:sldId id="264"/>
            <p14:sldId id="265"/>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6831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4D3A"/>
          </a:solidFill>
          <a:ln/>
        </p:spPr>
      </p:sp>
      <p:sp>
        <p:nvSpPr>
          <p:cNvPr id="3" name="Shape 1"/>
          <p:cNvSpPr/>
          <p:nvPr/>
        </p:nvSpPr>
        <p:spPr>
          <a:xfrm>
            <a:off x="0" y="822960"/>
            <a:ext cx="9144000" cy="54864"/>
          </a:xfrm>
          <a:prstGeom prst="rect">
            <a:avLst/>
          </a:prstGeom>
          <a:solidFill>
            <a:srgbClr val="D9822B"/>
          </a:solidFill>
          <a:ln/>
        </p:spPr>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5555"/>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555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D3A"/>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7863840" cy="10972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High Uniformity Hot Plate for Wafer Processing</a:t>
            </a:r>
            <a:endParaRPr lang="en-US" sz="3600" dirty="0"/>
          </a:p>
        </p:txBody>
      </p:sp>
      <p:sp>
        <p:nvSpPr>
          <p:cNvPr id="3" name="Shape 1"/>
          <p:cNvSpPr/>
          <p:nvPr/>
        </p:nvSpPr>
        <p:spPr>
          <a:xfrm>
            <a:off x="640080" y="2651760"/>
            <a:ext cx="1280160" cy="54864"/>
          </a:xfrm>
          <a:prstGeom prst="rect">
            <a:avLst/>
          </a:prstGeom>
          <a:solidFill>
            <a:srgbClr val="D9822B"/>
          </a:solidFill>
          <a:ln/>
        </p:spPr>
      </p:sp>
      <p:sp>
        <p:nvSpPr>
          <p:cNvPr id="4" name="Text 2"/>
          <p:cNvSpPr txBox="1"/>
          <p:nvPr/>
        </p:nvSpPr>
        <p:spPr>
          <a:xfrm>
            <a:off x="640080" y="2880360"/>
            <a:ext cx="7863840" cy="457200"/>
          </a:xfrm>
          <a:prstGeom prst="rect">
            <a:avLst/>
          </a:prstGeom>
          <a:noFill/>
          <a:ln/>
        </p:spPr>
        <p:txBody>
          <a:bodyPr wrap="square" rtlCol="0" anchor="ctr"/>
          <a:lstStyle/>
          <a:p>
            <a:pPr marL="0" indent="0">
              <a:buNone/>
            </a:pPr>
            <a:r>
              <a:rPr lang="en-US" sz="1800" dirty="0">
                <a:solidFill>
                  <a:srgbClr val="DDDDDD"/>
                </a:solidFill>
                <a:latin typeface="Calibri" pitchFamily="34" charset="0"/>
                <a:ea typeface="Calibri" pitchFamily="34" charset="-122"/>
                <a:cs typeface="Calibri" pitchFamily="34" charset="-120"/>
              </a:rPr>
              <a:t>Hot Plate Design Report  |Dhruv Rao, 26B1818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379379" y="109728"/>
            <a:ext cx="8229600" cy="603504"/>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 Specifications</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3128219411"/>
              </p:ext>
            </p:extLst>
          </p:nvPr>
        </p:nvGraphicFramePr>
        <p:xfrm>
          <a:off x="457199" y="1097279"/>
          <a:ext cx="7863191" cy="2904030"/>
        </p:xfrm>
        <a:graphic>
          <a:graphicData uri="http://schemas.openxmlformats.org/drawingml/2006/table">
            <a:tbl>
              <a:tblPr/>
              <a:tblGrid>
                <a:gridCol w="3537581">
                  <a:extLst>
                    <a:ext uri="{9D8B030D-6E8A-4147-A177-3AD203B41FA5}">
                      <a16:colId xmlns:a16="http://schemas.microsoft.com/office/drawing/2014/main" val="20000"/>
                    </a:ext>
                  </a:extLst>
                </a:gridCol>
                <a:gridCol w="4325610">
                  <a:extLst>
                    <a:ext uri="{9D8B030D-6E8A-4147-A177-3AD203B41FA5}">
                      <a16:colId xmlns:a16="http://schemas.microsoft.com/office/drawing/2014/main" val="20001"/>
                    </a:ext>
                  </a:extLst>
                </a:gridCol>
              </a:tblGrid>
              <a:tr h="484005">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Requirement</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D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D3A"/>
                    </a:solidFill>
                  </a:tcPr>
                </a:tc>
                <a:extLst>
                  <a:ext uri="{0D108BD9-81ED-4DB2-BD59-A6C34878D82A}">
                    <a16:rowId xmlns:a16="http://schemas.microsoft.com/office/drawing/2014/main" val="10000"/>
                  </a:ext>
                </a:extLst>
              </a:tr>
              <a:tr h="484005">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Wafer size</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&gt;= 4 inches (100 mm) usable zone</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84005">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Temperature range</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Room temp to 400 C</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484005">
                <a:tc>
                  <a:txBody>
                    <a:bodyPr/>
                    <a:lstStyle/>
                    <a:p>
                      <a:pPr marL="0" indent="0">
                        <a:buNone/>
                      </a:pPr>
                      <a:r>
                        <a:rPr lang="en-US" sz="1100" dirty="0">
                          <a:latin typeface="Calibri" charset="0"/>
                          <a:ea typeface="Calibri" charset="0"/>
                          <a:cs typeface="Calibri" charset="0"/>
                        </a:rPr>
                        <a:t>Accuracy(Run to Run repeatability)</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&lt; 5 C</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484005">
                <a:tc>
                  <a:txBody>
                    <a:bodyPr/>
                    <a:lstStyle/>
                    <a:p>
                      <a:pPr marL="0" indent="0">
                        <a:buNone/>
                      </a:pPr>
                      <a:r>
                        <a:rPr lang="en-US" sz="1100" dirty="0">
                          <a:latin typeface="Calibri" charset="0"/>
                          <a:ea typeface="Calibri" charset="0"/>
                          <a:cs typeface="Calibri" charset="0"/>
                        </a:rPr>
                        <a:t>Deviation ( Uniformity)</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&lt; 0.5 C </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484005">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Top surface flatness</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IN" sz="1100" dirty="0"/>
                        <a:t>≤</a:t>
                      </a:r>
                      <a:r>
                        <a:rPr lang="en-US" sz="1100" dirty="0">
                          <a:solidFill>
                            <a:srgbClr val="222222"/>
                          </a:solidFill>
                          <a:latin typeface="Calibri" pitchFamily="34" charset="0"/>
                          <a:ea typeface="Calibri" pitchFamily="34" charset="-122"/>
                          <a:cs typeface="Calibri" pitchFamily="34" charset="-120"/>
                        </a:rPr>
                        <a:t>10 um</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5555"/>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09728"/>
            <a:ext cx="8229600" cy="603504"/>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 Concept</a:t>
            </a:r>
            <a:endParaRPr lang="en-US" sz="2400" dirty="0"/>
          </a:p>
        </p:txBody>
      </p:sp>
      <p:sp>
        <p:nvSpPr>
          <p:cNvPr id="3" name="Text 1"/>
          <p:cNvSpPr txBox="1"/>
          <p:nvPr/>
        </p:nvSpPr>
        <p:spPr>
          <a:xfrm>
            <a:off x="548640" y="1097280"/>
            <a:ext cx="8046720" cy="3566160"/>
          </a:xfrm>
          <a:prstGeom prst="rect">
            <a:avLst/>
          </a:prstGeom>
          <a:noFill/>
          <a:ln/>
        </p:spPr>
        <p:txBody>
          <a:bodyPr wrap="square" rtlCol="0" anchor="t"/>
          <a:lstStyle/>
          <a:p>
            <a:pPr>
              <a:spcAft>
                <a:spcPts val="600"/>
              </a:spcAft>
              <a:buSzPct val="100000"/>
            </a:pPr>
            <a:r>
              <a:rPr lang="en-US" sz="1500" dirty="0"/>
              <a:t>Since the wafer proposed is 100 mm in measure, a 150mm hotplate will be used. Hotplate broken into a grid of 25 cells using 5 wires both vertically and horizontally equally spaced throughout the circuit. A thermal imaging camera capable of measuring temperature variance of 40-50mK is constantly taking framed pictures of hotplate once it reaches steady state of 400 C and is transmitting data to PID controller which translates the images into a temperature grid thus letting it know which heaters to crank up to maintain temperature throughout wafer. This reduces thermal gradient and prevents thermal stress in wafer during baking process. This will be done by sending different </a:t>
            </a:r>
            <a:r>
              <a:rPr lang="en-US" sz="1500" dirty="0" err="1"/>
              <a:t>pwm</a:t>
            </a:r>
            <a:r>
              <a:rPr lang="en-US" sz="1500" dirty="0"/>
              <a:t> outputs to the cartridge heater/s at the target areas and using MOSFETs as the switches for each heater. Since the plate is chosen to be of greater area, we do not need to concern ourself with edges of plate. The PID controller will ensure minimum deviation in temperature throughout wafer surface and will also ensure translation of temperature variation data retrieved from thermal camera.</a:t>
            </a:r>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5555"/>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09728"/>
            <a:ext cx="8229600" cy="603504"/>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 Thermal Design</a:t>
            </a:r>
            <a:endParaRPr lang="en-US" sz="2400" dirty="0"/>
          </a:p>
        </p:txBody>
      </p:sp>
      <p:sp>
        <p:nvSpPr>
          <p:cNvPr id="3" name="Text 1"/>
          <p:cNvSpPr txBox="1"/>
          <p:nvPr/>
        </p:nvSpPr>
        <p:spPr>
          <a:xfrm>
            <a:off x="548640" y="1097280"/>
            <a:ext cx="8046720" cy="3566160"/>
          </a:xfrm>
          <a:prstGeom prst="rect">
            <a:avLst/>
          </a:prstGeom>
          <a:noFill/>
          <a:ln/>
        </p:spPr>
        <p:txBody>
          <a:bodyPr wrap="square" rtlCol="0" anchor="t"/>
          <a:lstStyle/>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Plate material: (</a:t>
            </a:r>
            <a:r>
              <a:rPr lang="en-US" sz="1500" dirty="0" err="1">
                <a:solidFill>
                  <a:srgbClr val="222222"/>
                </a:solidFill>
                <a:latin typeface="Calibri" pitchFamily="34" charset="0"/>
                <a:ea typeface="Calibri" pitchFamily="34" charset="-122"/>
                <a:cs typeface="Calibri" pitchFamily="34" charset="-120"/>
              </a:rPr>
              <a:t>Aluminium</a:t>
            </a:r>
            <a:r>
              <a:rPr lang="en-US" sz="1500" dirty="0">
                <a:solidFill>
                  <a:srgbClr val="222222"/>
                </a:solidFill>
                <a:latin typeface="Calibri" pitchFamily="34" charset="0"/>
                <a:ea typeface="Calibri" pitchFamily="34" charset="-122"/>
                <a:cs typeface="Calibri" pitchFamily="34" charset="-120"/>
              </a:rPr>
              <a:t>); Plate side length(150mm);  Thickness(25mm) </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Heater type and layout (cartridge, multi-zone)</a:t>
            </a:r>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25 Cartridge heaters in 5x5 grid</a:t>
            </a:r>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 Power = mass x specific heat x dT / ramp time + losses leads to about 40 W per heater </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Uniformity analysis: Using thermal camera during baking.</a:t>
            </a:r>
            <a:endParaRPr lang="en-US" sz="15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5555"/>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09728"/>
            <a:ext cx="8229600" cy="603504"/>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 Electrical and Control Design</a:t>
            </a:r>
            <a:endParaRPr lang="en-US" sz="2400" dirty="0"/>
          </a:p>
        </p:txBody>
      </p:sp>
      <p:sp>
        <p:nvSpPr>
          <p:cNvPr id="3" name="Text 1"/>
          <p:cNvSpPr txBox="1"/>
          <p:nvPr/>
        </p:nvSpPr>
        <p:spPr>
          <a:xfrm>
            <a:off x="548640" y="1097280"/>
            <a:ext cx="8046720" cy="3566160"/>
          </a:xfrm>
          <a:prstGeom prst="rect">
            <a:avLst/>
          </a:prstGeom>
          <a:noFill/>
          <a:ln/>
        </p:spPr>
        <p:txBody>
          <a:bodyPr wrap="square" rtlCol="0" anchor="t"/>
          <a:lstStyle/>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Circuit: Thermal Camera (more cost efficient), 25 heaters and fiberglass cables</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Controller: Self made with raspberry pi zero 2W</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Power stage and safety: SSR switch, fuse, independent over-temperature cutoff, earthing, enclosure.</a:t>
            </a:r>
            <a:endParaRPr lang="en-US" sz="15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5555"/>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09728"/>
            <a:ext cx="8229600" cy="603504"/>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 Mechanical Design</a:t>
            </a:r>
            <a:endParaRPr lang="en-US" sz="2400" dirty="0"/>
          </a:p>
        </p:txBody>
      </p:sp>
      <p:sp>
        <p:nvSpPr>
          <p:cNvPr id="3" name="Text 1"/>
          <p:cNvSpPr txBox="1"/>
          <p:nvPr/>
        </p:nvSpPr>
        <p:spPr>
          <a:xfrm>
            <a:off x="548640" y="1097280"/>
            <a:ext cx="8046720" cy="3566160"/>
          </a:xfrm>
          <a:prstGeom prst="rect">
            <a:avLst/>
          </a:prstGeom>
          <a:noFill/>
          <a:ln/>
        </p:spPr>
        <p:txBody>
          <a:bodyPr wrap="square" rtlCol="0" anchor="t"/>
          <a:lstStyle/>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CAD views: isometric</a:t>
            </a:r>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Plate grooves and ridges for cartridge heaters</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Wafer location features, cable routing, enclosure</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Engineering drawing of the plate with dimensions and tolerances</a:t>
            </a:r>
            <a:endParaRPr lang="en-US" sz="15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5555"/>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09728"/>
            <a:ext cx="8229600" cy="603504"/>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 Flatness (+/- 10 um)</a:t>
            </a:r>
            <a:endParaRPr lang="en-US" sz="2400" dirty="0"/>
          </a:p>
        </p:txBody>
      </p:sp>
      <p:sp>
        <p:nvSpPr>
          <p:cNvPr id="3" name="Text 1"/>
          <p:cNvSpPr txBox="1"/>
          <p:nvPr/>
        </p:nvSpPr>
        <p:spPr>
          <a:xfrm>
            <a:off x="548640" y="1097280"/>
            <a:ext cx="8046720" cy="3566160"/>
          </a:xfrm>
          <a:prstGeom prst="rect">
            <a:avLst/>
          </a:prstGeom>
          <a:noFill/>
          <a:ln/>
        </p:spPr>
        <p:txBody>
          <a:bodyPr wrap="square" rtlCol="0" anchor="t"/>
          <a:lstStyle/>
          <a:p>
            <a:pPr>
              <a:spcAft>
                <a:spcPts val="600"/>
              </a:spcAft>
              <a:buSzPct val="100000"/>
            </a:pPr>
            <a:r>
              <a:rPr lang="en-US" sz="1500" dirty="0"/>
              <a:t>Making an extremely flat </a:t>
            </a:r>
            <a:r>
              <a:rPr lang="en-US" sz="1500" dirty="0" err="1"/>
              <a:t>aluminium</a:t>
            </a:r>
            <a:r>
              <a:rPr lang="en-US" sz="1500" dirty="0"/>
              <a:t> plate is tedious and requires technology which isn’t available in the fab</a:t>
            </a:r>
            <a:br>
              <a:rPr lang="en-US" sz="1500" dirty="0"/>
            </a:br>
            <a:r>
              <a:rPr lang="en-US" sz="1500" dirty="0"/>
              <a:t>I would buy the Mic-6 </a:t>
            </a:r>
            <a:r>
              <a:rPr lang="en-US" sz="1500" dirty="0" err="1"/>
              <a:t>aluminium</a:t>
            </a:r>
            <a:r>
              <a:rPr lang="en-US" sz="1500" dirty="0"/>
              <a:t> plate from </a:t>
            </a:r>
            <a:r>
              <a:rPr lang="en-US" sz="1500" dirty="0" err="1"/>
              <a:t>IndiaMart</a:t>
            </a:r>
            <a:r>
              <a:rPr lang="en-US" sz="1500" dirty="0"/>
              <a:t>. A local supplier is crucial and India mart supplies for 500Rs./kg </a:t>
            </a:r>
          </a:p>
          <a:p>
            <a:pPr>
              <a:spcAft>
                <a:spcPts val="600"/>
              </a:spcAft>
              <a:buSzPct val="100000"/>
            </a:pPr>
            <a:r>
              <a:rPr lang="en-US" sz="1500" dirty="0"/>
              <a:t>This plate is made with very tight tolerances which lie within our 10 </a:t>
            </a:r>
            <a:r>
              <a:rPr lang="en-US" sz="1500" dirty="0" err="1"/>
              <a:t>micrometre</a:t>
            </a:r>
            <a:r>
              <a:rPr lang="en-US" sz="1500" dirty="0"/>
              <a:t> threshold and will be used for our hotplate.</a:t>
            </a:r>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5555"/>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A4C031-8408-FA14-A9D2-D7E71518B1BF}"/>
              </a:ext>
            </a:extLst>
          </p:cNvPr>
          <p:cNvSpPr txBox="1"/>
          <p:nvPr/>
        </p:nvSpPr>
        <p:spPr>
          <a:xfrm>
            <a:off x="246434" y="145303"/>
            <a:ext cx="3271408" cy="461665"/>
          </a:xfrm>
          <a:prstGeom prst="rect">
            <a:avLst/>
          </a:prstGeom>
          <a:noFill/>
        </p:spPr>
        <p:txBody>
          <a:bodyPr wrap="none" rtlCol="0">
            <a:spAutoFit/>
          </a:bodyPr>
          <a:lstStyle/>
          <a:p>
            <a:r>
              <a:rPr lang="en-US" sz="2400" dirty="0">
                <a:solidFill>
                  <a:schemeClr val="bg1"/>
                </a:solidFill>
              </a:rPr>
              <a:t>Run to Run Repeatability</a:t>
            </a:r>
            <a:endParaRPr lang="en-IN" sz="2400" dirty="0">
              <a:solidFill>
                <a:schemeClr val="bg1"/>
              </a:solidFill>
            </a:endParaRPr>
          </a:p>
        </p:txBody>
      </p:sp>
      <p:sp>
        <p:nvSpPr>
          <p:cNvPr id="3" name="TextBox 2">
            <a:extLst>
              <a:ext uri="{FF2B5EF4-FFF2-40B4-BE49-F238E27FC236}">
                <a16:creationId xmlns:a16="http://schemas.microsoft.com/office/drawing/2014/main" id="{0E2D46C6-8A92-92F2-D3DA-70030F39C54F}"/>
              </a:ext>
            </a:extLst>
          </p:cNvPr>
          <p:cNvSpPr txBox="1"/>
          <p:nvPr/>
        </p:nvSpPr>
        <p:spPr>
          <a:xfrm>
            <a:off x="434501" y="1394297"/>
            <a:ext cx="8495489" cy="2585323"/>
          </a:xfrm>
          <a:prstGeom prst="rect">
            <a:avLst/>
          </a:prstGeom>
          <a:noFill/>
        </p:spPr>
        <p:txBody>
          <a:bodyPr wrap="square" rtlCol="0">
            <a:spAutoFit/>
          </a:bodyPr>
          <a:lstStyle/>
          <a:p>
            <a:r>
              <a:rPr lang="en-US" dirty="0"/>
              <a:t> Install 2 PT100s sensors (rated for 450 C) on the plate. These sensors have a resistance inside them which change with change in temperature thus enabling us to get absolute readings of temperature.</a:t>
            </a:r>
            <a:br>
              <a:rPr lang="en-US" dirty="0"/>
            </a:br>
            <a:r>
              <a:rPr lang="en-US" dirty="0"/>
              <a:t>Relay this information back to the raspberry pi to properly fix the start point for the run. </a:t>
            </a:r>
            <a:br>
              <a:rPr lang="en-US" dirty="0"/>
            </a:br>
            <a:r>
              <a:rPr lang="en-US" dirty="0"/>
              <a:t>Container in which baking occurs should also be maintained at a fixed temperature so as to regulate temperature deviation in hotplate even before the run starts.</a:t>
            </a:r>
          </a:p>
          <a:p>
            <a:endParaRPr lang="en-US" dirty="0"/>
          </a:p>
          <a:p>
            <a:br>
              <a:rPr lang="en-US" dirty="0"/>
            </a:br>
            <a:endParaRPr lang="en-IN" dirty="0"/>
          </a:p>
        </p:txBody>
      </p:sp>
    </p:spTree>
    <p:extLst>
      <p:ext uri="{BB962C8B-B14F-4D97-AF65-F5344CB8AC3E}">
        <p14:creationId xmlns:p14="http://schemas.microsoft.com/office/powerpoint/2010/main" val="1593533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09728"/>
            <a:ext cx="8229600" cy="603504"/>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 Bill of Materials</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2486809014"/>
              </p:ext>
            </p:extLst>
          </p:nvPr>
        </p:nvGraphicFramePr>
        <p:xfrm>
          <a:off x="457200" y="1097280"/>
          <a:ext cx="8229600" cy="3611880"/>
        </p:xfrm>
        <a:graphic>
          <a:graphicData uri="http://schemas.openxmlformats.org/drawingml/2006/table">
            <a:tbl>
              <a:tblPr/>
              <a:tblGrid>
                <a:gridCol w="2136843">
                  <a:extLst>
                    <a:ext uri="{9D8B030D-6E8A-4147-A177-3AD203B41FA5}">
                      <a16:colId xmlns:a16="http://schemas.microsoft.com/office/drawing/2014/main" val="20000"/>
                    </a:ext>
                  </a:extLst>
                </a:gridCol>
                <a:gridCol w="2435157">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D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Specification</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D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Qty</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D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Cost (INR)</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D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D3A"/>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Plate</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MIC 6 </a:t>
                      </a:r>
                      <a:r>
                        <a:rPr lang="en-US" sz="1100" dirty="0" err="1">
                          <a:latin typeface="Calibri" charset="0"/>
                          <a:ea typeface="Calibri" charset="0"/>
                          <a:cs typeface="Calibri" charset="0"/>
                        </a:rPr>
                        <a:t>Aluminium</a:t>
                      </a:r>
                      <a:r>
                        <a:rPr lang="en-US" sz="1100" dirty="0">
                          <a:latin typeface="Calibri" charset="0"/>
                          <a:ea typeface="Calibri" charset="0"/>
                          <a:cs typeface="Calibri" charset="0"/>
                        </a:rPr>
                        <a:t> Plate</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1</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&lt;5k</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err="1">
                          <a:latin typeface="Calibri" charset="0"/>
                          <a:ea typeface="Calibri" charset="0"/>
                          <a:cs typeface="Calibri" charset="0"/>
                        </a:rPr>
                        <a:t>IndiaMart</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Heater</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Cartridge Heaters (100W)</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25</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&lt;15k</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err="1">
                          <a:latin typeface="Calibri" charset="0"/>
                          <a:ea typeface="Calibri" charset="0"/>
                          <a:cs typeface="Calibri" charset="0"/>
                        </a:rPr>
                        <a:t>IndiaMart</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Temperature sensor</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Thermal camera</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1</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~20k</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Amazon</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PID algorithm controller</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1</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&lt;1.5k(can salvage arm processors and make one)</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Made in fab</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SSR / power switch</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50 Ampere power switch</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1</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~1.2k</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err="1">
                          <a:latin typeface="Calibri" charset="0"/>
                          <a:ea typeface="Calibri" charset="0"/>
                          <a:cs typeface="Calibri" charset="0"/>
                        </a:rPr>
                        <a:t>IndiaMart</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100" dirty="0">
                          <a:latin typeface="Calibri" charset="0"/>
                          <a:ea typeface="Calibri" charset="0"/>
                          <a:cs typeface="Calibri" charset="0"/>
                        </a:rPr>
                        <a:t>MOSFETS, heat sinks</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Standard issue </a:t>
                      </a:r>
                      <a:r>
                        <a:rPr lang="en-US" sz="1100" dirty="0" err="1">
                          <a:latin typeface="Calibri" charset="0"/>
                          <a:ea typeface="Calibri" charset="0"/>
                          <a:cs typeface="Calibri" charset="0"/>
                        </a:rPr>
                        <a:t>mosfets</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25</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~5k</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158731033"/>
                  </a:ext>
                </a:extLst>
              </a:tr>
              <a:tr h="0">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Insulation + wiring(high heat)</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Calcium silicate + </a:t>
                      </a:r>
                      <a:r>
                        <a:rPr lang="en-US" sz="1100" dirty="0" err="1">
                          <a:latin typeface="Calibri" charset="0"/>
                          <a:ea typeface="Calibri" charset="0"/>
                          <a:cs typeface="Calibri" charset="0"/>
                        </a:rPr>
                        <a:t>FibreGlass</a:t>
                      </a:r>
                      <a:r>
                        <a:rPr lang="en-US" sz="1100" dirty="0">
                          <a:latin typeface="Calibri" charset="0"/>
                          <a:ea typeface="Calibri" charset="0"/>
                          <a:cs typeface="Calibri" charset="0"/>
                        </a:rPr>
                        <a:t> cables</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1</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~1k</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err="1">
                          <a:latin typeface="Calibri" charset="0"/>
                          <a:ea typeface="Calibri" charset="0"/>
                          <a:cs typeface="Calibri" charset="0"/>
                        </a:rPr>
                        <a:t>IndiaMart</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100" dirty="0">
                          <a:latin typeface="Calibri" charset="0"/>
                          <a:ea typeface="Calibri" charset="0"/>
                          <a:cs typeface="Calibri" charset="0"/>
                        </a:rPr>
                        <a:t>PT 100s</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Heat sensors for accurate temperature measurement</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2</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~2-4k</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3410000771"/>
                  </a:ext>
                </a:extLst>
              </a:tr>
              <a:tr h="0">
                <a:tc>
                  <a:txBody>
                    <a:bodyPr/>
                    <a:lstStyle/>
                    <a:p>
                      <a:pPr marL="0" indent="0">
                        <a:buNone/>
                      </a:pPr>
                      <a:r>
                        <a:rPr lang="en-US" sz="1100" dirty="0">
                          <a:latin typeface="Calibri" charset="0"/>
                          <a:ea typeface="Calibri" charset="0"/>
                          <a:cs typeface="Calibri" charset="0"/>
                        </a:rPr>
                        <a:t>24V power supply</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24 volt supply for 25 heaters</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1</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~10k</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960972181"/>
                  </a:ext>
                </a:extLst>
              </a:tr>
              <a:tr h="0">
                <a:tc>
                  <a:txBody>
                    <a:bodyPr/>
                    <a:lstStyle/>
                    <a:p>
                      <a:pPr marL="0" indent="0">
                        <a:buNone/>
                      </a:pPr>
                      <a:r>
                        <a:rPr lang="en-US" sz="1100" dirty="0">
                          <a:latin typeface="Calibri" charset="0"/>
                          <a:ea typeface="Calibri" charset="0"/>
                          <a:cs typeface="Calibri" charset="0"/>
                        </a:rPr>
                        <a:t>PWM driver boards</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16-channel </a:t>
                      </a:r>
                      <a:r>
                        <a:rPr lang="en-US" sz="1100" dirty="0" err="1">
                          <a:latin typeface="Calibri" charset="0"/>
                          <a:ea typeface="Calibri" charset="0"/>
                          <a:cs typeface="Calibri" charset="0"/>
                        </a:rPr>
                        <a:t>pwm</a:t>
                      </a:r>
                      <a:r>
                        <a:rPr lang="en-US" sz="1100" dirty="0">
                          <a:latin typeface="Calibri" charset="0"/>
                          <a:ea typeface="Calibri" charset="0"/>
                          <a:cs typeface="Calibri" charset="0"/>
                        </a:rPr>
                        <a:t> driver boards ()</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2</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~500-1k</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969959236"/>
                  </a:ext>
                </a:extLst>
              </a:tr>
              <a:tr h="0">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Total (big expenditures)</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~65k</a:t>
                      </a: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ME </a:t>
                      </a:r>
                      <a:r>
                        <a:rPr lang="en-US" sz="1100" dirty="0">
                          <a:latin typeface="Calibri" charset="0"/>
                          <a:ea typeface="Calibri" charset="0"/>
                          <a:cs typeface="Calibri" charset="0"/>
                          <a:sym typeface="Wingdings" panose="05000000000000000000" pitchFamily="2" charset="2"/>
                        </a:rPr>
                        <a:t></a:t>
                      </a:r>
                      <a:endParaRPr lang="en-US" sz="110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5555"/>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09728"/>
            <a:ext cx="8229600" cy="603504"/>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 Assembly Instructions</a:t>
            </a:r>
            <a:endParaRPr lang="en-US" sz="2400" dirty="0"/>
          </a:p>
        </p:txBody>
      </p:sp>
      <p:sp>
        <p:nvSpPr>
          <p:cNvPr id="3" name="Text 1"/>
          <p:cNvSpPr txBox="1"/>
          <p:nvPr/>
        </p:nvSpPr>
        <p:spPr>
          <a:xfrm>
            <a:off x="548640" y="1097280"/>
            <a:ext cx="8046720" cy="3566160"/>
          </a:xfrm>
          <a:prstGeom prst="rect">
            <a:avLst/>
          </a:prstGeom>
          <a:noFill/>
          <a:ln/>
        </p:spPr>
        <p:txBody>
          <a:bodyPr wrap="square" rtlCol="0" anchor="t"/>
          <a:lstStyle/>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Prepare and inspect the plate (flatness, hole positions)</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Install heater(s) and sensor(s)</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Mount plate on thermal-isolation standoffs, fit insulation</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Wire power stage and safety cutoffs; connect controller and camera</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First power-up checks, then calibration and tuning</a:t>
            </a:r>
            <a:endParaRPr lang="en-US" sz="15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5555"/>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109728"/>
            <a:ext cx="8229600" cy="603504"/>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 Risks, Conclusion and References</a:t>
            </a:r>
            <a:endParaRPr lang="en-US" sz="2400" dirty="0"/>
          </a:p>
        </p:txBody>
      </p:sp>
      <p:sp>
        <p:nvSpPr>
          <p:cNvPr id="3" name="Text 1"/>
          <p:cNvSpPr txBox="1"/>
          <p:nvPr/>
        </p:nvSpPr>
        <p:spPr>
          <a:xfrm>
            <a:off x="548640" y="1097280"/>
            <a:ext cx="8046720" cy="3566160"/>
          </a:xfrm>
          <a:prstGeom prst="rect">
            <a:avLst/>
          </a:prstGeom>
          <a:noFill/>
          <a:ln/>
        </p:spPr>
        <p:txBody>
          <a:bodyPr wrap="square" rtlCol="0" anchor="t"/>
          <a:lstStyle/>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Risks and limitations: oxidation, warping at 400 C</a:t>
            </a:r>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Camera catches noise which has nothing to do with the wafer</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Conclusion: how the design meets each spec; future work</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References: IKA and Torrey Pines products, datasheets, standards used</a:t>
            </a:r>
            <a:endParaRPr lang="en-US" sz="15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5555"/>
                </a:solidFill>
              </a:defRPr>
            </a:lvl1pPr>
          </a:lstStyle>
          <a:p>
            <a:pPr algn="l"/>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TotalTime>
  <Words>809</Words>
  <Application>Microsoft Office PowerPoint</Application>
  <PresentationFormat>On-screen Show (16:9)</PresentationFormat>
  <Paragraphs>124</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 Plate Design Report Template</dc:title>
  <dc:subject>PptxGenJS Presentation</dc:subject>
  <dc:creator>PptxGenJS</dc:creator>
  <cp:lastModifiedBy>Jayashre Rao</cp:lastModifiedBy>
  <cp:revision>3</cp:revision>
  <dcterms:created xsi:type="dcterms:W3CDTF">2026-10-24T18:21:35Z</dcterms:created>
  <dcterms:modified xsi:type="dcterms:W3CDTF">2026-10-24T22:05:12Z</dcterms:modified>
</cp:coreProperties>
</file>