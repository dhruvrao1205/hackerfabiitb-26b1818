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69" r:id="rId5"/>
    <p:sldId id="259" r:id="rId6"/>
    <p:sldId id="260" r:id="rId7"/>
    <p:sldId id="261" r:id="rId8"/>
    <p:sldId id="263" r:id="rId9"/>
    <p:sldId id="268" r:id="rId10"/>
    <p:sldId id="264" r:id="rId11"/>
    <p:sldId id="265" r:id="rId12"/>
    <p:sldId id="267" r:id="rId13"/>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33B3FF4-60E0-42FB-83D9-EF8F5DA03BBC}">
          <p14:sldIdLst>
            <p14:sldId id="256"/>
            <p14:sldId id="257"/>
            <p14:sldId id="258"/>
            <p14:sldId id="269"/>
          </p14:sldIdLst>
        </p14:section>
        <p14:section name="Untitled Section" id="{A3D3ABFD-2135-4B41-946D-F5E2774DE0C8}">
          <p14:sldIdLst>
            <p14:sldId id="259"/>
            <p14:sldId id="260"/>
            <p14:sldId id="261"/>
            <p14:sldId id="263"/>
            <p14:sldId id="268"/>
            <p14:sldId id="264"/>
            <p14:sldId id="265"/>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98" d="100"/>
          <a:sy n="98" d="100"/>
        </p:scale>
        <p:origin x="360"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6683106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F4D3A"/>
          </a:solidFill>
          <a:ln/>
        </p:spPr>
      </p:sp>
      <p:sp>
        <p:nvSpPr>
          <p:cNvPr id="3" name="Shape 1"/>
          <p:cNvSpPr/>
          <p:nvPr/>
        </p:nvSpPr>
        <p:spPr>
          <a:xfrm>
            <a:off x="0" y="822960"/>
            <a:ext cx="9144000" cy="54864"/>
          </a:xfrm>
          <a:prstGeom prst="rect">
            <a:avLst/>
          </a:prstGeom>
          <a:solidFill>
            <a:srgbClr val="D9822B"/>
          </a:solidFill>
          <a:ln/>
        </p:spPr>
      </p:sp>
      <p:sp>
        <p:nvSpPr>
          <p:cNvPr id="25" name="Slide Number Placeholder 0"/>
          <p:cNvSpPr>
            <a:spLocks noGrp="1"/>
          </p:cNvSpPr>
          <p:nvPr>
            <p:ph type="sldNum" sz="quarter" idx="4294967295"/>
          </p:nvPr>
        </p:nvSpPr>
        <p:spPr>
          <a:xfrm>
            <a:off x="8412480" y="4846320"/>
            <a:ext cx="800000" cy="30000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55555"/>
                </a:solidFill>
              </a:defRPr>
            </a:lvl1pPr>
          </a:lstStyle>
          <a:p>
            <a:pPr algn="l"/>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846320"/>
            <a:ext cx="800000" cy="30000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55555"/>
                </a:solidFill>
              </a:defRPr>
            </a:lvl1pPr>
          </a:lstStyle>
          <a:p>
            <a:pPr algn="l"/>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D3A"/>
        </a:solidFill>
        <a:effectLst/>
      </p:bgPr>
    </p:bg>
    <p:spTree>
      <p:nvGrpSpPr>
        <p:cNvPr id="1" name=""/>
        <p:cNvGrpSpPr/>
        <p:nvPr/>
      </p:nvGrpSpPr>
      <p:grpSpPr>
        <a:xfrm>
          <a:off x="0" y="0"/>
          <a:ext cx="0" cy="0"/>
          <a:chOff x="0" y="0"/>
          <a:chExt cx="0" cy="0"/>
        </a:xfrm>
      </p:grpSpPr>
      <p:sp>
        <p:nvSpPr>
          <p:cNvPr id="2" name="Text 0"/>
          <p:cNvSpPr txBox="1"/>
          <p:nvPr/>
        </p:nvSpPr>
        <p:spPr>
          <a:xfrm>
            <a:off x="640080" y="1463040"/>
            <a:ext cx="7863840" cy="1097280"/>
          </a:xfrm>
          <a:prstGeom prst="rect">
            <a:avLst/>
          </a:prstGeom>
          <a:noFill/>
          <a:ln/>
        </p:spPr>
        <p:txBody>
          <a:bodyPr wrap="square" rtlCol="0" anchor="ctr"/>
          <a:lstStyle/>
          <a:p>
            <a:pPr marL="0" indent="0">
              <a:buNone/>
            </a:pPr>
            <a:r>
              <a:rPr lang="en-US" sz="3600" b="1" dirty="0">
                <a:solidFill>
                  <a:srgbClr val="FFFFFF"/>
                </a:solidFill>
                <a:latin typeface="Calibri" pitchFamily="34" charset="0"/>
                <a:ea typeface="Calibri" pitchFamily="34" charset="-122"/>
                <a:cs typeface="Calibri" pitchFamily="34" charset="-120"/>
              </a:rPr>
              <a:t>High Uniformity Hot Plate for Wafer Processing</a:t>
            </a:r>
            <a:endParaRPr lang="en-US" sz="3600" dirty="0"/>
          </a:p>
        </p:txBody>
      </p:sp>
      <p:sp>
        <p:nvSpPr>
          <p:cNvPr id="3" name="Shape 1"/>
          <p:cNvSpPr/>
          <p:nvPr/>
        </p:nvSpPr>
        <p:spPr>
          <a:xfrm>
            <a:off x="640080" y="2651760"/>
            <a:ext cx="1280160" cy="54864"/>
          </a:xfrm>
          <a:prstGeom prst="rect">
            <a:avLst/>
          </a:prstGeom>
          <a:solidFill>
            <a:srgbClr val="D9822B"/>
          </a:solidFill>
          <a:ln/>
        </p:spPr>
      </p:sp>
      <p:sp>
        <p:nvSpPr>
          <p:cNvPr id="4" name="Text 2"/>
          <p:cNvSpPr txBox="1"/>
          <p:nvPr/>
        </p:nvSpPr>
        <p:spPr>
          <a:xfrm>
            <a:off x="640080" y="2880360"/>
            <a:ext cx="7863840" cy="457200"/>
          </a:xfrm>
          <a:prstGeom prst="rect">
            <a:avLst/>
          </a:prstGeom>
          <a:noFill/>
          <a:ln/>
        </p:spPr>
        <p:txBody>
          <a:bodyPr wrap="square" rtlCol="0" anchor="ctr"/>
          <a:lstStyle/>
          <a:p>
            <a:pPr marL="0" indent="0">
              <a:buNone/>
            </a:pPr>
            <a:r>
              <a:rPr lang="en-US" sz="1800" dirty="0">
                <a:solidFill>
                  <a:srgbClr val="DDDDDD"/>
                </a:solidFill>
                <a:latin typeface="Calibri" pitchFamily="34" charset="0"/>
                <a:ea typeface="Calibri" pitchFamily="34" charset="-122"/>
                <a:cs typeface="Calibri" pitchFamily="34" charset="-120"/>
              </a:rPr>
              <a:t>Hot Plate Design Report  |Dhruv Rao, 26B1818</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379379" y="109728"/>
            <a:ext cx="8229600" cy="603504"/>
          </a:xfrm>
          <a:prstGeom prst="rect">
            <a:avLst/>
          </a:prstGeom>
          <a:noFill/>
          <a:ln/>
        </p:spPr>
        <p:txBody>
          <a:bodyPr wrap="square" lIns="0" tIns="0" rIns="0" bIns="0" rtlCol="0" anchor="ctr"/>
          <a:lstStyle/>
          <a:p>
            <a:pPr marL="0" indent="0">
              <a:buNone/>
            </a:pPr>
            <a:r>
              <a:rPr lang="en-US" sz="2400" b="1" dirty="0">
                <a:solidFill>
                  <a:srgbClr val="FFFFFF"/>
                </a:solidFill>
                <a:latin typeface="Calibri" pitchFamily="34" charset="0"/>
                <a:ea typeface="Calibri" pitchFamily="34" charset="-122"/>
                <a:cs typeface="Calibri" pitchFamily="34" charset="-120"/>
              </a:rPr>
              <a:t> Specifications</a:t>
            </a:r>
            <a:endParaRPr lang="en-US" sz="2400" dirty="0"/>
          </a:p>
        </p:txBody>
      </p:sp>
      <p:graphicFrame>
        <p:nvGraphicFramePr>
          <p:cNvPr id="3" name="Table 0"/>
          <p:cNvGraphicFramePr>
            <a:graphicFrameLocks noGrp="1"/>
          </p:cNvGraphicFramePr>
          <p:nvPr>
            <p:extLst>
              <p:ext uri="{D42A27DB-BD31-4B8C-83A1-F6EECF244321}">
                <p14:modId xmlns:p14="http://schemas.microsoft.com/office/powerpoint/2010/main" val="3128219411"/>
              </p:ext>
            </p:extLst>
          </p:nvPr>
        </p:nvGraphicFramePr>
        <p:xfrm>
          <a:off x="457199" y="1097279"/>
          <a:ext cx="7863191" cy="2904030"/>
        </p:xfrm>
        <a:graphic>
          <a:graphicData uri="http://schemas.openxmlformats.org/drawingml/2006/table">
            <a:tbl>
              <a:tblPr/>
              <a:tblGrid>
                <a:gridCol w="3537581">
                  <a:extLst>
                    <a:ext uri="{9D8B030D-6E8A-4147-A177-3AD203B41FA5}">
                      <a16:colId xmlns:a16="http://schemas.microsoft.com/office/drawing/2014/main" val="20000"/>
                    </a:ext>
                  </a:extLst>
                </a:gridCol>
                <a:gridCol w="4325610">
                  <a:extLst>
                    <a:ext uri="{9D8B030D-6E8A-4147-A177-3AD203B41FA5}">
                      <a16:colId xmlns:a16="http://schemas.microsoft.com/office/drawing/2014/main" val="20001"/>
                    </a:ext>
                  </a:extLst>
                </a:gridCol>
              </a:tblGrid>
              <a:tr h="484005">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Requirement</a:t>
                      </a:r>
                      <a:endParaRPr lang="en-US" sz="11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1F4D3A"/>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Target</a:t>
                      </a:r>
                      <a:endParaRPr lang="en-US" sz="11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1F4D3A"/>
                    </a:solidFill>
                  </a:tcPr>
                </a:tc>
                <a:extLst>
                  <a:ext uri="{0D108BD9-81ED-4DB2-BD59-A6C34878D82A}">
                    <a16:rowId xmlns:a16="http://schemas.microsoft.com/office/drawing/2014/main" val="10000"/>
                  </a:ext>
                </a:extLst>
              </a:tr>
              <a:tr h="484005">
                <a:tc>
                  <a:txBody>
                    <a:bodyPr/>
                    <a:lstStyle/>
                    <a:p>
                      <a:pPr marL="0" indent="0">
                        <a:buNone/>
                      </a:pPr>
                      <a:r>
                        <a:rPr lang="en-US" sz="1100" dirty="0">
                          <a:solidFill>
                            <a:srgbClr val="222222"/>
                          </a:solidFill>
                          <a:latin typeface="Calibri" pitchFamily="34" charset="0"/>
                          <a:ea typeface="Calibri" pitchFamily="34" charset="-122"/>
                          <a:cs typeface="Calibri" pitchFamily="34" charset="-120"/>
                        </a:rPr>
                        <a:t>Wafer size</a:t>
                      </a:r>
                      <a:endParaRPr lang="en-US" sz="11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222222"/>
                          </a:solidFill>
                          <a:latin typeface="Calibri" pitchFamily="34" charset="0"/>
                          <a:ea typeface="Calibri" pitchFamily="34" charset="-122"/>
                          <a:cs typeface="Calibri" pitchFamily="34" charset="-120"/>
                        </a:rPr>
                        <a:t>&gt;= 4 inches (100 mm) usable zone</a:t>
                      </a:r>
                      <a:endParaRPr lang="en-US" sz="11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484005">
                <a:tc>
                  <a:txBody>
                    <a:bodyPr/>
                    <a:lstStyle/>
                    <a:p>
                      <a:pPr marL="0" indent="0">
                        <a:buNone/>
                      </a:pPr>
                      <a:r>
                        <a:rPr lang="en-US" sz="1100" dirty="0">
                          <a:solidFill>
                            <a:srgbClr val="222222"/>
                          </a:solidFill>
                          <a:latin typeface="Calibri" pitchFamily="34" charset="0"/>
                          <a:ea typeface="Calibri" pitchFamily="34" charset="-122"/>
                          <a:cs typeface="Calibri" pitchFamily="34" charset="-120"/>
                        </a:rPr>
                        <a:t>Temperature range</a:t>
                      </a:r>
                      <a:endParaRPr lang="en-US" sz="11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222222"/>
                          </a:solidFill>
                          <a:latin typeface="Calibri" pitchFamily="34" charset="0"/>
                          <a:ea typeface="Calibri" pitchFamily="34" charset="-122"/>
                          <a:cs typeface="Calibri" pitchFamily="34" charset="-120"/>
                        </a:rPr>
                        <a:t>Room temp to 400 C</a:t>
                      </a:r>
                      <a:endParaRPr lang="en-US" sz="11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484005">
                <a:tc>
                  <a:txBody>
                    <a:bodyPr/>
                    <a:lstStyle/>
                    <a:p>
                      <a:pPr marL="0" indent="0">
                        <a:buNone/>
                      </a:pPr>
                      <a:r>
                        <a:rPr lang="en-US" sz="1100" dirty="0">
                          <a:latin typeface="Calibri" charset="0"/>
                          <a:ea typeface="Calibri" charset="0"/>
                          <a:cs typeface="Calibri" charset="0"/>
                        </a:rPr>
                        <a:t>Accuracy(Run to Run repeatability)</a:t>
                      </a: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222222"/>
                          </a:solidFill>
                          <a:latin typeface="Calibri" pitchFamily="34" charset="0"/>
                          <a:ea typeface="Calibri" pitchFamily="34" charset="-122"/>
                          <a:cs typeface="Calibri" pitchFamily="34" charset="-120"/>
                        </a:rPr>
                        <a:t>&lt; 5 C</a:t>
                      </a:r>
                      <a:endParaRPr lang="en-US" sz="11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484005">
                <a:tc>
                  <a:txBody>
                    <a:bodyPr/>
                    <a:lstStyle/>
                    <a:p>
                      <a:pPr marL="0" indent="0">
                        <a:buNone/>
                      </a:pPr>
                      <a:r>
                        <a:rPr lang="en-US" sz="1100" dirty="0">
                          <a:latin typeface="Calibri" charset="0"/>
                          <a:ea typeface="Calibri" charset="0"/>
                          <a:cs typeface="Calibri" charset="0"/>
                        </a:rPr>
                        <a:t>Deviation ( Uniformity)</a:t>
                      </a: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222222"/>
                          </a:solidFill>
                          <a:latin typeface="Calibri" pitchFamily="34" charset="0"/>
                          <a:ea typeface="Calibri" pitchFamily="34" charset="-122"/>
                          <a:cs typeface="Calibri" pitchFamily="34" charset="-120"/>
                        </a:rPr>
                        <a:t>&lt; 0.5 C </a:t>
                      </a:r>
                      <a:endParaRPr lang="en-US" sz="11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484005">
                <a:tc>
                  <a:txBody>
                    <a:bodyPr/>
                    <a:lstStyle/>
                    <a:p>
                      <a:pPr marL="0" indent="0">
                        <a:buNone/>
                      </a:pPr>
                      <a:r>
                        <a:rPr lang="en-US" sz="1100" dirty="0">
                          <a:solidFill>
                            <a:srgbClr val="222222"/>
                          </a:solidFill>
                          <a:latin typeface="Calibri" pitchFamily="34" charset="0"/>
                          <a:ea typeface="Calibri" pitchFamily="34" charset="-122"/>
                          <a:cs typeface="Calibri" pitchFamily="34" charset="-120"/>
                        </a:rPr>
                        <a:t>Top surface flatness</a:t>
                      </a:r>
                      <a:endParaRPr lang="en-US" sz="11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IN" sz="1100" dirty="0"/>
                        <a:t>≤</a:t>
                      </a:r>
                      <a:r>
                        <a:rPr lang="en-US" sz="1100" dirty="0">
                          <a:solidFill>
                            <a:srgbClr val="222222"/>
                          </a:solidFill>
                          <a:latin typeface="Calibri" pitchFamily="34" charset="0"/>
                          <a:ea typeface="Calibri" pitchFamily="34" charset="-122"/>
                          <a:cs typeface="Calibri" pitchFamily="34" charset="-120"/>
                        </a:rPr>
                        <a:t>10 um</a:t>
                      </a:r>
                      <a:endParaRPr lang="en-US" sz="11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25" name="Slide Number Placeholder 0"/>
          <p:cNvSpPr>
            <a:spLocks noGrp="1"/>
          </p:cNvSpPr>
          <p:nvPr>
            <p:ph type="sldNum" sz="quarter" idx="4294967295"/>
          </p:nvPr>
        </p:nvSpPr>
        <p:spPr>
          <a:xfrm>
            <a:off x="8412480" y="4846320"/>
            <a:ext cx="800000" cy="30000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55555"/>
                </a:solidFill>
              </a:defRPr>
            </a:lvl1pPr>
          </a:lstStyle>
          <a:p>
            <a:pPr algn="l"/>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109728"/>
            <a:ext cx="8229600" cy="603504"/>
          </a:xfrm>
          <a:prstGeom prst="rect">
            <a:avLst/>
          </a:prstGeom>
          <a:noFill/>
          <a:ln/>
        </p:spPr>
        <p:txBody>
          <a:bodyPr wrap="square" lIns="0" tIns="0" rIns="0" bIns="0" rtlCol="0" anchor="ctr"/>
          <a:lstStyle/>
          <a:p>
            <a:pPr marL="0" indent="0">
              <a:buNone/>
            </a:pPr>
            <a:r>
              <a:rPr lang="en-US" sz="2400" b="1" dirty="0">
                <a:solidFill>
                  <a:srgbClr val="FFFFFF"/>
                </a:solidFill>
                <a:latin typeface="Calibri" pitchFamily="34" charset="0"/>
                <a:ea typeface="Calibri" pitchFamily="34" charset="-122"/>
                <a:cs typeface="Calibri" pitchFamily="34" charset="-120"/>
              </a:rPr>
              <a:t> Concept</a:t>
            </a:r>
            <a:endParaRPr lang="en-US" sz="2400" dirty="0"/>
          </a:p>
        </p:txBody>
      </p:sp>
      <p:sp>
        <p:nvSpPr>
          <p:cNvPr id="3" name="Text 1"/>
          <p:cNvSpPr txBox="1"/>
          <p:nvPr/>
        </p:nvSpPr>
        <p:spPr>
          <a:xfrm>
            <a:off x="548640" y="1097280"/>
            <a:ext cx="8046720" cy="3566160"/>
          </a:xfrm>
          <a:prstGeom prst="rect">
            <a:avLst/>
          </a:prstGeom>
          <a:noFill/>
          <a:ln/>
        </p:spPr>
        <p:txBody>
          <a:bodyPr wrap="square" rtlCol="0" anchor="t"/>
          <a:lstStyle/>
          <a:p>
            <a:pPr>
              <a:spcAft>
                <a:spcPts val="600"/>
              </a:spcAft>
              <a:buSzPct val="100000"/>
            </a:pPr>
            <a:r>
              <a:rPr lang="en-US" sz="1500" dirty="0"/>
              <a:t>Since the wafer proposed is 100 mm in measure, a 150mm hotplate will be used. Wafer area on hotplate broken into a grid of 25 intersecting current carrying channels using both a </a:t>
            </a:r>
            <a:r>
              <a:rPr lang="en-US" sz="1500" dirty="0" err="1"/>
              <a:t>pcb</a:t>
            </a:r>
            <a:r>
              <a:rPr lang="en-US" sz="1500" dirty="0"/>
              <a:t> board providing each cartridge heater with its own PWM signal input and 24V guard rails with GND cables(More on this in Slide 4). A thermal imaging camera capable of measuring temperature variance of 40-50mK is constantly taking framed pictures of hotplate once it reaches steady state of 400 C and is transmitting data to PID controller which translates the images into a temperature grid thus letting it know which heaters to crank up to maintain temperature throughout wafer. This reduces thermal gradient and prevents thermal stress in wafer during baking process. This will be done by sending different </a:t>
            </a:r>
            <a:r>
              <a:rPr lang="en-US" sz="1500" dirty="0" err="1"/>
              <a:t>pwm</a:t>
            </a:r>
            <a:r>
              <a:rPr lang="en-US" sz="1500" dirty="0"/>
              <a:t> outputs to the cartridge heater/s at the target areas and using MOSFETs as the switches and current amplifiers for each heater. Since the plate is chosen to be of greater area, edge heat runoff is not a big concern of ours. The PID controller will ensure minimum deviation in temperature throughout wafer surface and will also ensure translation of temperature variation data retrieved from thermal camera.</a:t>
            </a:r>
          </a:p>
        </p:txBody>
      </p:sp>
      <p:sp>
        <p:nvSpPr>
          <p:cNvPr id="25" name="Slide Number Placeholder 0"/>
          <p:cNvSpPr>
            <a:spLocks noGrp="1"/>
          </p:cNvSpPr>
          <p:nvPr>
            <p:ph type="sldNum" sz="quarter" idx="4294967295"/>
          </p:nvPr>
        </p:nvSpPr>
        <p:spPr>
          <a:xfrm>
            <a:off x="8412480" y="4846320"/>
            <a:ext cx="800000" cy="30000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55555"/>
                </a:solidFill>
              </a:defRPr>
            </a:lvl1pPr>
          </a:lstStyle>
          <a:p>
            <a:pPr algn="l"/>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9D8D46D-B7BB-607E-9215-4D0245FCFB37}"/>
              </a:ext>
            </a:extLst>
          </p:cNvPr>
          <p:cNvSpPr txBox="1"/>
          <p:nvPr/>
        </p:nvSpPr>
        <p:spPr>
          <a:xfrm>
            <a:off x="382621" y="233465"/>
            <a:ext cx="3917005" cy="461665"/>
          </a:xfrm>
          <a:prstGeom prst="rect">
            <a:avLst/>
          </a:prstGeom>
          <a:noFill/>
        </p:spPr>
        <p:txBody>
          <a:bodyPr wrap="square" rtlCol="0">
            <a:spAutoFit/>
          </a:bodyPr>
          <a:lstStyle/>
          <a:p>
            <a:r>
              <a:rPr lang="en-US" sz="2400" dirty="0">
                <a:solidFill>
                  <a:schemeClr val="bg1"/>
                </a:solidFill>
              </a:rPr>
              <a:t>Circuit Work</a:t>
            </a:r>
            <a:endParaRPr lang="en-IN" sz="2400" dirty="0">
              <a:solidFill>
                <a:schemeClr val="bg1"/>
              </a:solidFill>
            </a:endParaRPr>
          </a:p>
        </p:txBody>
      </p:sp>
      <p:sp>
        <p:nvSpPr>
          <p:cNvPr id="3" name="TextBox 2">
            <a:extLst>
              <a:ext uri="{FF2B5EF4-FFF2-40B4-BE49-F238E27FC236}">
                <a16:creationId xmlns:a16="http://schemas.microsoft.com/office/drawing/2014/main" id="{EC73DDF4-E531-AC2C-E8DC-1BC92981FC6D}"/>
              </a:ext>
            </a:extLst>
          </p:cNvPr>
          <p:cNvSpPr txBox="1"/>
          <p:nvPr/>
        </p:nvSpPr>
        <p:spPr>
          <a:xfrm>
            <a:off x="382621" y="1348903"/>
            <a:ext cx="8540885" cy="1200329"/>
          </a:xfrm>
          <a:prstGeom prst="rect">
            <a:avLst/>
          </a:prstGeom>
          <a:noFill/>
        </p:spPr>
        <p:txBody>
          <a:bodyPr wrap="square" rtlCol="0">
            <a:spAutoFit/>
          </a:bodyPr>
          <a:lstStyle/>
          <a:p>
            <a:r>
              <a:rPr lang="en-US" dirty="0"/>
              <a:t>So it will be 5 parallel wires running horizontally each providing +24 </a:t>
            </a:r>
            <a:r>
              <a:rPr lang="en-US" dirty="0" err="1"/>
              <a:t>Vc</a:t>
            </a:r>
            <a:r>
              <a:rPr lang="en-US" dirty="0"/>
              <a:t> to the </a:t>
            </a:r>
            <a:r>
              <a:rPr lang="en-US" dirty="0" err="1"/>
              <a:t>mosfet</a:t>
            </a:r>
            <a:r>
              <a:rPr lang="en-US" dirty="0"/>
              <a:t> and thus the heater and 5 vertically for the ground. The 25 separate PWM inputs for each base of the </a:t>
            </a:r>
            <a:r>
              <a:rPr lang="en-US" dirty="0" err="1"/>
              <a:t>mosfet</a:t>
            </a:r>
            <a:r>
              <a:rPr lang="en-US" dirty="0"/>
              <a:t> will be drawn from 1 of 2 16-channel PWM drivers through soldering on a PCB board. The circuit diagram is shown below. </a:t>
            </a:r>
            <a:endParaRPr lang="en-IN" dirty="0"/>
          </a:p>
        </p:txBody>
      </p:sp>
      <p:pic>
        <p:nvPicPr>
          <p:cNvPr id="5" name="Picture 4">
            <a:extLst>
              <a:ext uri="{FF2B5EF4-FFF2-40B4-BE49-F238E27FC236}">
                <a16:creationId xmlns:a16="http://schemas.microsoft.com/office/drawing/2014/main" id="{0156F13A-224F-B228-5647-4BF6CD7242F1}"/>
              </a:ext>
            </a:extLst>
          </p:cNvPr>
          <p:cNvPicPr>
            <a:picLocks noChangeAspect="1"/>
          </p:cNvPicPr>
          <p:nvPr/>
        </p:nvPicPr>
        <p:blipFill>
          <a:blip r:embed="rId2"/>
          <a:stretch>
            <a:fillRect/>
          </a:stretch>
        </p:blipFill>
        <p:spPr>
          <a:xfrm>
            <a:off x="544748" y="2571750"/>
            <a:ext cx="2970180" cy="2585448"/>
          </a:xfrm>
          <a:prstGeom prst="rect">
            <a:avLst/>
          </a:prstGeom>
        </p:spPr>
      </p:pic>
      <p:pic>
        <p:nvPicPr>
          <p:cNvPr id="7" name="Picture 6">
            <a:extLst>
              <a:ext uri="{FF2B5EF4-FFF2-40B4-BE49-F238E27FC236}">
                <a16:creationId xmlns:a16="http://schemas.microsoft.com/office/drawing/2014/main" id="{D76DA267-CAF3-8D1D-55D5-17EE2FFFF253}"/>
              </a:ext>
            </a:extLst>
          </p:cNvPr>
          <p:cNvPicPr>
            <a:picLocks noChangeAspect="1"/>
          </p:cNvPicPr>
          <p:nvPr/>
        </p:nvPicPr>
        <p:blipFill>
          <a:blip r:embed="rId3"/>
          <a:srcRect l="-1" t="28753" r="-740" b="29652"/>
          <a:stretch>
            <a:fillRect/>
          </a:stretch>
        </p:blipFill>
        <p:spPr>
          <a:xfrm>
            <a:off x="5069803" y="2594269"/>
            <a:ext cx="3770551" cy="2135681"/>
          </a:xfrm>
          <a:prstGeom prst="rect">
            <a:avLst/>
          </a:prstGeom>
        </p:spPr>
      </p:pic>
    </p:spTree>
    <p:extLst>
      <p:ext uri="{BB962C8B-B14F-4D97-AF65-F5344CB8AC3E}">
        <p14:creationId xmlns:p14="http://schemas.microsoft.com/office/powerpoint/2010/main" val="413932055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109728"/>
            <a:ext cx="8229600" cy="603504"/>
          </a:xfrm>
          <a:prstGeom prst="rect">
            <a:avLst/>
          </a:prstGeom>
          <a:noFill/>
          <a:ln/>
        </p:spPr>
        <p:txBody>
          <a:bodyPr wrap="square" lIns="0" tIns="0" rIns="0" bIns="0" rtlCol="0" anchor="ctr"/>
          <a:lstStyle/>
          <a:p>
            <a:pPr marL="0" indent="0">
              <a:buNone/>
            </a:pPr>
            <a:r>
              <a:rPr lang="en-US" sz="2400" b="1" dirty="0">
                <a:solidFill>
                  <a:srgbClr val="FFFFFF"/>
                </a:solidFill>
                <a:latin typeface="Calibri" pitchFamily="34" charset="0"/>
                <a:ea typeface="Calibri" pitchFamily="34" charset="-122"/>
                <a:cs typeface="Calibri" pitchFamily="34" charset="-120"/>
              </a:rPr>
              <a:t> Thermal Design</a:t>
            </a:r>
            <a:endParaRPr lang="en-US" sz="2400" dirty="0"/>
          </a:p>
        </p:txBody>
      </p:sp>
      <p:sp>
        <p:nvSpPr>
          <p:cNvPr id="3" name="Text 1"/>
          <p:cNvSpPr txBox="1"/>
          <p:nvPr/>
        </p:nvSpPr>
        <p:spPr>
          <a:xfrm>
            <a:off x="548640" y="1097280"/>
            <a:ext cx="8046720" cy="3566160"/>
          </a:xfrm>
          <a:prstGeom prst="rect">
            <a:avLst/>
          </a:prstGeom>
          <a:noFill/>
          <a:ln/>
        </p:spPr>
        <p:txBody>
          <a:bodyPr wrap="square" rtlCol="0" anchor="t"/>
          <a:lstStyle/>
          <a:p>
            <a:pPr marL="342900" indent="-342900">
              <a:spcAft>
                <a:spcPts val="600"/>
              </a:spcAft>
              <a:buSzPct val="100000"/>
              <a:buChar char="•"/>
            </a:pPr>
            <a:r>
              <a:rPr lang="en-US" sz="1500" dirty="0">
                <a:solidFill>
                  <a:srgbClr val="222222"/>
                </a:solidFill>
                <a:latin typeface="Calibri" pitchFamily="34" charset="0"/>
                <a:ea typeface="Calibri" pitchFamily="34" charset="-122"/>
                <a:cs typeface="Calibri" pitchFamily="34" charset="-120"/>
              </a:rPr>
              <a:t>Plate material: (</a:t>
            </a:r>
            <a:r>
              <a:rPr lang="en-US" sz="1500" dirty="0" err="1">
                <a:solidFill>
                  <a:srgbClr val="222222"/>
                </a:solidFill>
                <a:latin typeface="Calibri" pitchFamily="34" charset="0"/>
                <a:ea typeface="Calibri" pitchFamily="34" charset="-122"/>
                <a:cs typeface="Calibri" pitchFamily="34" charset="-120"/>
              </a:rPr>
              <a:t>Aluminium</a:t>
            </a:r>
            <a:r>
              <a:rPr lang="en-US" sz="1500" dirty="0">
                <a:solidFill>
                  <a:srgbClr val="222222"/>
                </a:solidFill>
                <a:latin typeface="Calibri" pitchFamily="34" charset="0"/>
                <a:ea typeface="Calibri" pitchFamily="34" charset="-122"/>
                <a:cs typeface="Calibri" pitchFamily="34" charset="-120"/>
              </a:rPr>
              <a:t>); Plate side length(150mm);  Thickness(25mm) </a:t>
            </a:r>
            <a:endParaRPr lang="en-US" sz="1500" dirty="0"/>
          </a:p>
          <a:p>
            <a:pPr marL="342900" indent="-342900">
              <a:spcAft>
                <a:spcPts val="600"/>
              </a:spcAft>
              <a:buSzPct val="100000"/>
              <a:buChar char="•"/>
            </a:pPr>
            <a:r>
              <a:rPr lang="en-US" sz="1500" dirty="0">
                <a:solidFill>
                  <a:srgbClr val="222222"/>
                </a:solidFill>
                <a:latin typeface="Calibri" pitchFamily="34" charset="0"/>
                <a:ea typeface="Calibri" pitchFamily="34" charset="-122"/>
                <a:cs typeface="Calibri" pitchFamily="34" charset="-120"/>
              </a:rPr>
              <a:t>Heater type and layout: (cartridge, multi-zone)</a:t>
            </a:r>
          </a:p>
          <a:p>
            <a:pPr marL="342900" indent="-342900">
              <a:spcAft>
                <a:spcPts val="600"/>
              </a:spcAft>
              <a:buSzPct val="100000"/>
              <a:buChar char="•"/>
            </a:pPr>
            <a:r>
              <a:rPr lang="en-US" sz="1500" dirty="0">
                <a:solidFill>
                  <a:srgbClr val="222222"/>
                </a:solidFill>
                <a:latin typeface="Calibri" pitchFamily="34" charset="0"/>
                <a:ea typeface="Calibri" pitchFamily="34" charset="-122"/>
                <a:cs typeface="Calibri" pitchFamily="34" charset="-120"/>
              </a:rPr>
              <a:t>25 Cartridge heaters in 5x5 grid</a:t>
            </a:r>
          </a:p>
          <a:p>
            <a:pPr marL="342900" indent="-342900">
              <a:spcAft>
                <a:spcPts val="600"/>
              </a:spcAft>
              <a:buSzPct val="100000"/>
              <a:buChar char="•"/>
            </a:pPr>
            <a:r>
              <a:rPr lang="en-US" sz="1500" dirty="0">
                <a:solidFill>
                  <a:srgbClr val="222222"/>
                </a:solidFill>
                <a:latin typeface="Calibri" pitchFamily="34" charset="0"/>
                <a:ea typeface="Calibri" pitchFamily="34" charset="-122"/>
                <a:cs typeface="Calibri" pitchFamily="34" charset="-120"/>
              </a:rPr>
              <a:t> Power = mass x specific heat x dT / ramp time + losses leads to about 40 W per heater </a:t>
            </a:r>
            <a:endParaRPr lang="en-US" sz="1500" dirty="0"/>
          </a:p>
          <a:p>
            <a:pPr marL="342900" indent="-342900">
              <a:spcAft>
                <a:spcPts val="600"/>
              </a:spcAft>
              <a:buSzPct val="100000"/>
              <a:buChar char="•"/>
            </a:pPr>
            <a:r>
              <a:rPr lang="en-US" sz="1500" dirty="0">
                <a:solidFill>
                  <a:srgbClr val="222222"/>
                </a:solidFill>
                <a:latin typeface="Calibri" pitchFamily="34" charset="0"/>
                <a:ea typeface="Calibri" pitchFamily="34" charset="-122"/>
                <a:cs typeface="Calibri" pitchFamily="34" charset="-120"/>
              </a:rPr>
              <a:t>Uniformity analysis: Using thermal camera during baking.</a:t>
            </a:r>
            <a:endParaRPr lang="en-US" sz="1500" dirty="0"/>
          </a:p>
        </p:txBody>
      </p:sp>
      <p:sp>
        <p:nvSpPr>
          <p:cNvPr id="25" name="Slide Number Placeholder 0"/>
          <p:cNvSpPr>
            <a:spLocks noGrp="1"/>
          </p:cNvSpPr>
          <p:nvPr>
            <p:ph type="sldNum" sz="quarter" idx="4294967295"/>
          </p:nvPr>
        </p:nvSpPr>
        <p:spPr>
          <a:xfrm>
            <a:off x="8412480" y="4846320"/>
            <a:ext cx="800000" cy="30000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55555"/>
                </a:solidFill>
              </a:defRPr>
            </a:lvl1pPr>
          </a:lstStyle>
          <a:p>
            <a:pPr algn="l"/>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109728"/>
            <a:ext cx="8229600" cy="603504"/>
          </a:xfrm>
          <a:prstGeom prst="rect">
            <a:avLst/>
          </a:prstGeom>
          <a:noFill/>
          <a:ln/>
        </p:spPr>
        <p:txBody>
          <a:bodyPr wrap="square" lIns="0" tIns="0" rIns="0" bIns="0" rtlCol="0" anchor="ctr"/>
          <a:lstStyle/>
          <a:p>
            <a:pPr marL="0" indent="0">
              <a:buNone/>
            </a:pPr>
            <a:r>
              <a:rPr lang="en-US" sz="2400" b="1" dirty="0">
                <a:solidFill>
                  <a:srgbClr val="FFFFFF"/>
                </a:solidFill>
                <a:latin typeface="Calibri" pitchFamily="34" charset="0"/>
                <a:ea typeface="Calibri" pitchFamily="34" charset="-122"/>
                <a:cs typeface="Calibri" pitchFamily="34" charset="-120"/>
              </a:rPr>
              <a:t> Electrical and Control Design</a:t>
            </a:r>
            <a:endParaRPr lang="en-US" sz="2400" dirty="0"/>
          </a:p>
        </p:txBody>
      </p:sp>
      <p:sp>
        <p:nvSpPr>
          <p:cNvPr id="3" name="Text 1"/>
          <p:cNvSpPr txBox="1"/>
          <p:nvPr/>
        </p:nvSpPr>
        <p:spPr>
          <a:xfrm>
            <a:off x="548640" y="1097280"/>
            <a:ext cx="8046720" cy="3566160"/>
          </a:xfrm>
          <a:prstGeom prst="rect">
            <a:avLst/>
          </a:prstGeom>
          <a:noFill/>
          <a:ln/>
        </p:spPr>
        <p:txBody>
          <a:bodyPr wrap="square" rtlCol="0" anchor="t"/>
          <a:lstStyle/>
          <a:p>
            <a:pPr marL="342900" indent="-342900">
              <a:spcAft>
                <a:spcPts val="600"/>
              </a:spcAft>
              <a:buSzPct val="100000"/>
              <a:buChar char="•"/>
            </a:pPr>
            <a:r>
              <a:rPr lang="en-US" sz="1500" dirty="0">
                <a:solidFill>
                  <a:srgbClr val="222222"/>
                </a:solidFill>
                <a:latin typeface="Calibri" pitchFamily="34" charset="0"/>
                <a:ea typeface="Calibri" pitchFamily="34" charset="-122"/>
                <a:cs typeface="Calibri" pitchFamily="34" charset="-120"/>
              </a:rPr>
              <a:t>Circuit: Thermal Camera (more cost efficient), 25 heaters and fiberglass cables</a:t>
            </a:r>
            <a:endParaRPr lang="en-US" sz="1500" dirty="0"/>
          </a:p>
          <a:p>
            <a:pPr marL="342900" indent="-342900">
              <a:spcAft>
                <a:spcPts val="600"/>
              </a:spcAft>
              <a:buSzPct val="100000"/>
              <a:buChar char="•"/>
            </a:pPr>
            <a:r>
              <a:rPr lang="en-US" sz="1500" dirty="0">
                <a:solidFill>
                  <a:srgbClr val="222222"/>
                </a:solidFill>
                <a:latin typeface="Calibri" pitchFamily="34" charset="0"/>
                <a:ea typeface="Calibri" pitchFamily="34" charset="-122"/>
                <a:cs typeface="Calibri" pitchFamily="34" charset="-120"/>
              </a:rPr>
              <a:t>Controller: Self made with raspberry pi zero 2W</a:t>
            </a:r>
            <a:endParaRPr lang="en-US" sz="1500" dirty="0"/>
          </a:p>
          <a:p>
            <a:pPr marL="342900" indent="-342900">
              <a:spcAft>
                <a:spcPts val="600"/>
              </a:spcAft>
              <a:buSzPct val="100000"/>
              <a:buChar char="•"/>
            </a:pPr>
            <a:r>
              <a:rPr lang="en-US" sz="1500" dirty="0">
                <a:solidFill>
                  <a:srgbClr val="222222"/>
                </a:solidFill>
                <a:latin typeface="Calibri" pitchFamily="34" charset="0"/>
                <a:ea typeface="Calibri" pitchFamily="34" charset="-122"/>
                <a:cs typeface="Calibri" pitchFamily="34" charset="-120"/>
              </a:rPr>
              <a:t>Power stage and safety: SSR switch, fuse, independent over-temperature cutoff, earthing, enclosure.</a:t>
            </a:r>
            <a:endParaRPr lang="en-US" sz="1500" dirty="0"/>
          </a:p>
        </p:txBody>
      </p:sp>
      <p:sp>
        <p:nvSpPr>
          <p:cNvPr id="25" name="Slide Number Placeholder 0"/>
          <p:cNvSpPr>
            <a:spLocks noGrp="1"/>
          </p:cNvSpPr>
          <p:nvPr>
            <p:ph type="sldNum" sz="quarter" idx="4294967295"/>
          </p:nvPr>
        </p:nvSpPr>
        <p:spPr>
          <a:xfrm>
            <a:off x="8412480" y="4846320"/>
            <a:ext cx="800000" cy="30000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55555"/>
                </a:solidFill>
              </a:defRPr>
            </a:lvl1pPr>
          </a:lstStyle>
          <a:p>
            <a:pPr algn="l"/>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109728"/>
            <a:ext cx="8229600" cy="603504"/>
          </a:xfrm>
          <a:prstGeom prst="rect">
            <a:avLst/>
          </a:prstGeom>
          <a:noFill/>
          <a:ln/>
        </p:spPr>
        <p:txBody>
          <a:bodyPr wrap="square" lIns="0" tIns="0" rIns="0" bIns="0" rtlCol="0" anchor="ctr"/>
          <a:lstStyle/>
          <a:p>
            <a:pPr marL="0" indent="0">
              <a:buNone/>
            </a:pPr>
            <a:r>
              <a:rPr lang="en-US" sz="2400" b="1" dirty="0">
                <a:solidFill>
                  <a:srgbClr val="FFFFFF"/>
                </a:solidFill>
                <a:latin typeface="Calibri" pitchFamily="34" charset="0"/>
                <a:ea typeface="Calibri" pitchFamily="34" charset="-122"/>
                <a:cs typeface="Calibri" pitchFamily="34" charset="-120"/>
              </a:rPr>
              <a:t> Mechanical Design</a:t>
            </a:r>
            <a:endParaRPr lang="en-US" sz="2400" dirty="0"/>
          </a:p>
        </p:txBody>
      </p:sp>
      <p:sp>
        <p:nvSpPr>
          <p:cNvPr id="3" name="Text 1"/>
          <p:cNvSpPr txBox="1"/>
          <p:nvPr/>
        </p:nvSpPr>
        <p:spPr>
          <a:xfrm>
            <a:off x="548640" y="1097280"/>
            <a:ext cx="8046720" cy="3566160"/>
          </a:xfrm>
          <a:prstGeom prst="rect">
            <a:avLst/>
          </a:prstGeom>
          <a:noFill/>
          <a:ln/>
        </p:spPr>
        <p:txBody>
          <a:bodyPr wrap="square" rtlCol="0" anchor="t"/>
          <a:lstStyle/>
          <a:p>
            <a:pPr marL="342900" indent="-342900">
              <a:spcAft>
                <a:spcPts val="600"/>
              </a:spcAft>
              <a:buSzPct val="100000"/>
              <a:buChar char="•"/>
            </a:pPr>
            <a:r>
              <a:rPr lang="en-US" sz="1500" dirty="0">
                <a:solidFill>
                  <a:srgbClr val="222222"/>
                </a:solidFill>
                <a:latin typeface="Calibri" pitchFamily="34" charset="0"/>
                <a:ea typeface="Calibri" pitchFamily="34" charset="-122"/>
                <a:cs typeface="Calibri" pitchFamily="34" charset="-120"/>
              </a:rPr>
              <a:t>CAD views: isometric</a:t>
            </a:r>
          </a:p>
          <a:p>
            <a:pPr marL="342900" indent="-342900">
              <a:spcAft>
                <a:spcPts val="600"/>
              </a:spcAft>
              <a:buSzPct val="100000"/>
              <a:buChar char="•"/>
            </a:pPr>
            <a:r>
              <a:rPr lang="en-US" sz="1500" dirty="0">
                <a:solidFill>
                  <a:srgbClr val="222222"/>
                </a:solidFill>
                <a:latin typeface="Calibri" pitchFamily="34" charset="0"/>
                <a:ea typeface="Calibri" pitchFamily="34" charset="-122"/>
                <a:cs typeface="Calibri" pitchFamily="34" charset="-120"/>
              </a:rPr>
              <a:t>Plate grooves and ridges for cartridge heaters</a:t>
            </a:r>
            <a:endParaRPr lang="en-US" sz="1500" dirty="0"/>
          </a:p>
          <a:p>
            <a:pPr marL="342900" indent="-342900">
              <a:spcAft>
                <a:spcPts val="600"/>
              </a:spcAft>
              <a:buSzPct val="100000"/>
              <a:buChar char="•"/>
            </a:pPr>
            <a:r>
              <a:rPr lang="en-US" sz="1500" dirty="0">
                <a:solidFill>
                  <a:srgbClr val="222222"/>
                </a:solidFill>
                <a:latin typeface="Calibri" pitchFamily="34" charset="0"/>
                <a:ea typeface="Calibri" pitchFamily="34" charset="-122"/>
                <a:cs typeface="Calibri" pitchFamily="34" charset="-120"/>
              </a:rPr>
              <a:t>Wafer location features, cable routing, enclosure</a:t>
            </a:r>
            <a:endParaRPr lang="en-US" sz="1500" dirty="0"/>
          </a:p>
          <a:p>
            <a:pPr marL="342900" indent="-342900">
              <a:spcAft>
                <a:spcPts val="600"/>
              </a:spcAft>
              <a:buSzPct val="100000"/>
              <a:buChar char="•"/>
            </a:pPr>
            <a:r>
              <a:rPr lang="en-US" sz="1500" dirty="0">
                <a:solidFill>
                  <a:srgbClr val="222222"/>
                </a:solidFill>
                <a:latin typeface="Calibri" pitchFamily="34" charset="0"/>
                <a:ea typeface="Calibri" pitchFamily="34" charset="-122"/>
                <a:cs typeface="Calibri" pitchFamily="34" charset="-120"/>
              </a:rPr>
              <a:t>Engineering drawing of the plate with dimensions and tolerances</a:t>
            </a:r>
            <a:endParaRPr lang="en-US" sz="1500" dirty="0"/>
          </a:p>
        </p:txBody>
      </p:sp>
      <p:sp>
        <p:nvSpPr>
          <p:cNvPr id="25" name="Slide Number Placeholder 0"/>
          <p:cNvSpPr>
            <a:spLocks noGrp="1"/>
          </p:cNvSpPr>
          <p:nvPr>
            <p:ph type="sldNum" sz="quarter" idx="4294967295"/>
          </p:nvPr>
        </p:nvSpPr>
        <p:spPr>
          <a:xfrm>
            <a:off x="8412480" y="4846320"/>
            <a:ext cx="800000" cy="30000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55555"/>
                </a:solidFill>
              </a:defRPr>
            </a:lvl1pPr>
          </a:lstStyle>
          <a:p>
            <a:pPr algn="l"/>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109728"/>
            <a:ext cx="8229600" cy="603504"/>
          </a:xfrm>
          <a:prstGeom prst="rect">
            <a:avLst/>
          </a:prstGeom>
          <a:noFill/>
          <a:ln/>
        </p:spPr>
        <p:txBody>
          <a:bodyPr wrap="square" lIns="0" tIns="0" rIns="0" bIns="0" rtlCol="0" anchor="ctr"/>
          <a:lstStyle/>
          <a:p>
            <a:pPr marL="0" indent="0">
              <a:buNone/>
            </a:pPr>
            <a:r>
              <a:rPr lang="en-US" sz="2400" b="1" dirty="0">
                <a:solidFill>
                  <a:srgbClr val="FFFFFF"/>
                </a:solidFill>
                <a:latin typeface="Calibri" pitchFamily="34" charset="0"/>
                <a:ea typeface="Calibri" pitchFamily="34" charset="-122"/>
                <a:cs typeface="Calibri" pitchFamily="34" charset="-120"/>
              </a:rPr>
              <a:t> Flatness (+/- 10 um)</a:t>
            </a:r>
            <a:endParaRPr lang="en-US" sz="2400" dirty="0"/>
          </a:p>
        </p:txBody>
      </p:sp>
      <p:sp>
        <p:nvSpPr>
          <p:cNvPr id="3" name="Text 1"/>
          <p:cNvSpPr txBox="1"/>
          <p:nvPr/>
        </p:nvSpPr>
        <p:spPr>
          <a:xfrm>
            <a:off x="548640" y="1097280"/>
            <a:ext cx="8046720" cy="3566160"/>
          </a:xfrm>
          <a:prstGeom prst="rect">
            <a:avLst/>
          </a:prstGeom>
          <a:noFill/>
          <a:ln/>
        </p:spPr>
        <p:txBody>
          <a:bodyPr wrap="square" rtlCol="0" anchor="t"/>
          <a:lstStyle/>
          <a:p>
            <a:pPr>
              <a:spcAft>
                <a:spcPts val="600"/>
              </a:spcAft>
              <a:buSzPct val="100000"/>
            </a:pPr>
            <a:r>
              <a:rPr lang="en-US" sz="1500" dirty="0"/>
              <a:t>Making an extremely flat </a:t>
            </a:r>
            <a:r>
              <a:rPr lang="en-US" sz="1500" dirty="0" err="1"/>
              <a:t>aluminium</a:t>
            </a:r>
            <a:r>
              <a:rPr lang="en-US" sz="1500" dirty="0"/>
              <a:t> plate is tedious and requires technology which isn’t available in the fab</a:t>
            </a:r>
            <a:br>
              <a:rPr lang="en-US" sz="1500" dirty="0"/>
            </a:br>
            <a:r>
              <a:rPr lang="en-US" sz="1500" dirty="0"/>
              <a:t>I would buy the Mic-6 </a:t>
            </a:r>
            <a:r>
              <a:rPr lang="en-US" sz="1500" dirty="0" err="1"/>
              <a:t>aluminium</a:t>
            </a:r>
            <a:r>
              <a:rPr lang="en-US" sz="1500" dirty="0"/>
              <a:t> plate from </a:t>
            </a:r>
            <a:r>
              <a:rPr lang="en-US" sz="1500" dirty="0" err="1"/>
              <a:t>IndiaMart</a:t>
            </a:r>
            <a:r>
              <a:rPr lang="en-US" sz="1500" dirty="0"/>
              <a:t>. A local supplier is crucial and India mart supplies for 500Rs./kg </a:t>
            </a:r>
          </a:p>
          <a:p>
            <a:pPr>
              <a:spcAft>
                <a:spcPts val="600"/>
              </a:spcAft>
              <a:buSzPct val="100000"/>
            </a:pPr>
            <a:r>
              <a:rPr lang="en-US" sz="1500" dirty="0"/>
              <a:t>This plate is made with very tight tolerances which lie within our 10 </a:t>
            </a:r>
            <a:r>
              <a:rPr lang="en-US" sz="1500" dirty="0" err="1"/>
              <a:t>micrometre</a:t>
            </a:r>
            <a:r>
              <a:rPr lang="en-US" sz="1500" dirty="0"/>
              <a:t> threshold and will be used for our hotplate.</a:t>
            </a:r>
          </a:p>
        </p:txBody>
      </p:sp>
      <p:sp>
        <p:nvSpPr>
          <p:cNvPr id="25" name="Slide Number Placeholder 0"/>
          <p:cNvSpPr>
            <a:spLocks noGrp="1"/>
          </p:cNvSpPr>
          <p:nvPr>
            <p:ph type="sldNum" sz="quarter" idx="4294967295"/>
          </p:nvPr>
        </p:nvSpPr>
        <p:spPr>
          <a:xfrm>
            <a:off x="8412480" y="4846320"/>
            <a:ext cx="800000" cy="30000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55555"/>
                </a:solidFill>
              </a:defRPr>
            </a:lvl1pPr>
          </a:lstStyle>
          <a:p>
            <a:pPr algn="l"/>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AA4C031-8408-FA14-A9D2-D7E71518B1BF}"/>
              </a:ext>
            </a:extLst>
          </p:cNvPr>
          <p:cNvSpPr txBox="1"/>
          <p:nvPr/>
        </p:nvSpPr>
        <p:spPr>
          <a:xfrm>
            <a:off x="246434" y="145303"/>
            <a:ext cx="3271408" cy="461665"/>
          </a:xfrm>
          <a:prstGeom prst="rect">
            <a:avLst/>
          </a:prstGeom>
          <a:noFill/>
        </p:spPr>
        <p:txBody>
          <a:bodyPr wrap="none" rtlCol="0">
            <a:spAutoFit/>
          </a:bodyPr>
          <a:lstStyle/>
          <a:p>
            <a:r>
              <a:rPr lang="en-US" sz="2400" dirty="0">
                <a:solidFill>
                  <a:schemeClr val="bg1"/>
                </a:solidFill>
              </a:rPr>
              <a:t>Run to Run Repeatability</a:t>
            </a:r>
            <a:endParaRPr lang="en-IN" sz="2400" dirty="0">
              <a:solidFill>
                <a:schemeClr val="bg1"/>
              </a:solidFill>
            </a:endParaRPr>
          </a:p>
        </p:txBody>
      </p:sp>
      <p:sp>
        <p:nvSpPr>
          <p:cNvPr id="3" name="TextBox 2">
            <a:extLst>
              <a:ext uri="{FF2B5EF4-FFF2-40B4-BE49-F238E27FC236}">
                <a16:creationId xmlns:a16="http://schemas.microsoft.com/office/drawing/2014/main" id="{0E2D46C6-8A92-92F2-D3DA-70030F39C54F}"/>
              </a:ext>
            </a:extLst>
          </p:cNvPr>
          <p:cNvSpPr txBox="1"/>
          <p:nvPr/>
        </p:nvSpPr>
        <p:spPr>
          <a:xfrm>
            <a:off x="434501" y="1394297"/>
            <a:ext cx="8495489" cy="2585323"/>
          </a:xfrm>
          <a:prstGeom prst="rect">
            <a:avLst/>
          </a:prstGeom>
          <a:noFill/>
        </p:spPr>
        <p:txBody>
          <a:bodyPr wrap="square" rtlCol="0">
            <a:spAutoFit/>
          </a:bodyPr>
          <a:lstStyle/>
          <a:p>
            <a:r>
              <a:rPr lang="en-US" dirty="0"/>
              <a:t> Install 2 PT100s sensors (rated for 450 C) on the plate. These sensors have a resistance inside them which change with change in temperature thus enabling us to get absolute readings of temperature.</a:t>
            </a:r>
            <a:br>
              <a:rPr lang="en-US" dirty="0"/>
            </a:br>
            <a:r>
              <a:rPr lang="en-US" dirty="0"/>
              <a:t>Relay this information back to the raspberry pi to properly fix the start point for the run. </a:t>
            </a:r>
            <a:br>
              <a:rPr lang="en-US" dirty="0"/>
            </a:br>
            <a:r>
              <a:rPr lang="en-US" dirty="0"/>
              <a:t>Container in which baking occurs should also be maintained at a fixed temperature so as to regulate temperature deviation in hotplate even before the run starts.</a:t>
            </a:r>
          </a:p>
          <a:p>
            <a:endParaRPr lang="en-US" dirty="0"/>
          </a:p>
          <a:p>
            <a:br>
              <a:rPr lang="en-US" dirty="0"/>
            </a:br>
            <a:endParaRPr lang="en-IN" dirty="0"/>
          </a:p>
        </p:txBody>
      </p:sp>
    </p:spTree>
    <p:extLst>
      <p:ext uri="{BB962C8B-B14F-4D97-AF65-F5344CB8AC3E}">
        <p14:creationId xmlns:p14="http://schemas.microsoft.com/office/powerpoint/2010/main" val="159353300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57200" y="109728"/>
            <a:ext cx="8229600" cy="603504"/>
          </a:xfrm>
          <a:prstGeom prst="rect">
            <a:avLst/>
          </a:prstGeom>
          <a:noFill/>
          <a:ln/>
        </p:spPr>
        <p:txBody>
          <a:bodyPr wrap="square" lIns="0" tIns="0" rIns="0" bIns="0" rtlCol="0" anchor="ctr"/>
          <a:lstStyle/>
          <a:p>
            <a:pPr marL="0" indent="0">
              <a:buNone/>
            </a:pPr>
            <a:r>
              <a:rPr lang="en-US" sz="2400" b="1" dirty="0">
                <a:solidFill>
                  <a:srgbClr val="FFFFFF"/>
                </a:solidFill>
                <a:latin typeface="Calibri" pitchFamily="34" charset="0"/>
                <a:ea typeface="Calibri" pitchFamily="34" charset="-122"/>
                <a:cs typeface="Calibri" pitchFamily="34" charset="-120"/>
              </a:rPr>
              <a:t> Bill of Materials</a:t>
            </a:r>
            <a:endParaRPr lang="en-US" sz="2400" dirty="0"/>
          </a:p>
        </p:txBody>
      </p:sp>
      <p:graphicFrame>
        <p:nvGraphicFramePr>
          <p:cNvPr id="10" name="Table 0"/>
          <p:cNvGraphicFramePr>
            <a:graphicFrameLocks noGrp="1"/>
          </p:cNvGraphicFramePr>
          <p:nvPr>
            <p:extLst>
              <p:ext uri="{D42A27DB-BD31-4B8C-83A1-F6EECF244321}">
                <p14:modId xmlns:p14="http://schemas.microsoft.com/office/powerpoint/2010/main" val="2355157012"/>
              </p:ext>
            </p:extLst>
          </p:nvPr>
        </p:nvGraphicFramePr>
        <p:xfrm>
          <a:off x="457200" y="1097280"/>
          <a:ext cx="8229600" cy="3611880"/>
        </p:xfrm>
        <a:graphic>
          <a:graphicData uri="http://schemas.openxmlformats.org/drawingml/2006/table">
            <a:tbl>
              <a:tblPr/>
              <a:tblGrid>
                <a:gridCol w="2136843">
                  <a:extLst>
                    <a:ext uri="{9D8B030D-6E8A-4147-A177-3AD203B41FA5}">
                      <a16:colId xmlns:a16="http://schemas.microsoft.com/office/drawing/2014/main" val="20000"/>
                    </a:ext>
                  </a:extLst>
                </a:gridCol>
                <a:gridCol w="2435157">
                  <a:extLst>
                    <a:ext uri="{9D8B030D-6E8A-4147-A177-3AD203B41FA5}">
                      <a16:colId xmlns:a16="http://schemas.microsoft.com/office/drawing/2014/main" val="20001"/>
                    </a:ext>
                  </a:extLst>
                </a:gridCol>
                <a:gridCol w="73152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554480">
                  <a:extLst>
                    <a:ext uri="{9D8B030D-6E8A-4147-A177-3AD203B41FA5}">
                      <a16:colId xmlns:a16="http://schemas.microsoft.com/office/drawing/2014/main" val="20004"/>
                    </a:ext>
                  </a:extLst>
                </a:gridCol>
              </a:tblGrid>
              <a:tr h="0">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Item</a:t>
                      </a:r>
                      <a:endParaRPr lang="en-US" sz="11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1F4D3A"/>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Specification</a:t>
                      </a:r>
                      <a:endParaRPr lang="en-US" sz="11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1F4D3A"/>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Qty</a:t>
                      </a:r>
                      <a:endParaRPr lang="en-US" sz="11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1F4D3A"/>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Cost (INR)</a:t>
                      </a:r>
                      <a:endParaRPr lang="en-US" sz="11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1F4D3A"/>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Source</a:t>
                      </a:r>
                      <a:endParaRPr lang="en-US" sz="11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1F4D3A"/>
                    </a:solidFill>
                  </a:tcPr>
                </a:tc>
                <a:extLst>
                  <a:ext uri="{0D108BD9-81ED-4DB2-BD59-A6C34878D82A}">
                    <a16:rowId xmlns:a16="http://schemas.microsoft.com/office/drawing/2014/main" val="10000"/>
                  </a:ext>
                </a:extLst>
              </a:tr>
              <a:tr h="0">
                <a:tc>
                  <a:txBody>
                    <a:bodyPr/>
                    <a:lstStyle/>
                    <a:p>
                      <a:pPr marL="0" indent="0">
                        <a:buNone/>
                      </a:pPr>
                      <a:r>
                        <a:rPr lang="en-US" sz="1100" dirty="0">
                          <a:solidFill>
                            <a:srgbClr val="222222"/>
                          </a:solidFill>
                          <a:latin typeface="Calibri" pitchFamily="34" charset="0"/>
                          <a:ea typeface="Calibri" pitchFamily="34" charset="-122"/>
                          <a:cs typeface="Calibri" pitchFamily="34" charset="-120"/>
                        </a:rPr>
                        <a:t>Plate</a:t>
                      </a:r>
                      <a:endParaRPr lang="en-US" sz="11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00" dirty="0">
                          <a:latin typeface="Calibri" charset="0"/>
                          <a:ea typeface="Calibri" charset="0"/>
                          <a:cs typeface="Calibri" charset="0"/>
                        </a:rPr>
                        <a:t>MIC 6 </a:t>
                      </a:r>
                      <a:r>
                        <a:rPr lang="en-US" sz="1100" dirty="0" err="1">
                          <a:latin typeface="Calibri" charset="0"/>
                          <a:ea typeface="Calibri" charset="0"/>
                          <a:cs typeface="Calibri" charset="0"/>
                        </a:rPr>
                        <a:t>Aluminium</a:t>
                      </a:r>
                      <a:r>
                        <a:rPr lang="en-US" sz="1100" dirty="0">
                          <a:latin typeface="Calibri" charset="0"/>
                          <a:ea typeface="Calibri" charset="0"/>
                          <a:cs typeface="Calibri" charset="0"/>
                        </a:rPr>
                        <a:t> Plate</a:t>
                      </a: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00" dirty="0">
                          <a:latin typeface="Calibri" charset="0"/>
                          <a:ea typeface="Calibri" charset="0"/>
                          <a:cs typeface="Calibri" charset="0"/>
                        </a:rPr>
                        <a:t>1</a:t>
                      </a: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00" dirty="0">
                          <a:latin typeface="Calibri" charset="0"/>
                          <a:ea typeface="Calibri" charset="0"/>
                          <a:cs typeface="Calibri" charset="0"/>
                        </a:rPr>
                        <a:t>&lt;5k (500/kg)</a:t>
                      </a: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00" dirty="0" err="1">
                          <a:latin typeface="Calibri" charset="0"/>
                          <a:ea typeface="Calibri" charset="0"/>
                          <a:cs typeface="Calibri" charset="0"/>
                        </a:rPr>
                        <a:t>IndiaMart</a:t>
                      </a:r>
                      <a:endParaRPr lang="en-US" sz="11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buNone/>
                      </a:pPr>
                      <a:r>
                        <a:rPr lang="en-US" sz="1100" dirty="0">
                          <a:solidFill>
                            <a:srgbClr val="222222"/>
                          </a:solidFill>
                          <a:latin typeface="Calibri" pitchFamily="34" charset="0"/>
                          <a:ea typeface="Calibri" pitchFamily="34" charset="-122"/>
                          <a:cs typeface="Calibri" pitchFamily="34" charset="-120"/>
                        </a:rPr>
                        <a:t>Heater</a:t>
                      </a:r>
                      <a:endParaRPr lang="en-US" sz="11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00" dirty="0">
                          <a:latin typeface="Calibri" charset="0"/>
                          <a:ea typeface="Calibri" charset="0"/>
                          <a:cs typeface="Calibri" charset="0"/>
                        </a:rPr>
                        <a:t>Cartridge Heaters (100W)</a:t>
                      </a: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00" dirty="0">
                          <a:latin typeface="Calibri" charset="0"/>
                          <a:ea typeface="Calibri" charset="0"/>
                          <a:cs typeface="Calibri" charset="0"/>
                        </a:rPr>
                        <a:t>25</a:t>
                      </a: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00" dirty="0">
                          <a:latin typeface="Calibri" charset="0"/>
                          <a:ea typeface="Calibri" charset="0"/>
                          <a:cs typeface="Calibri" charset="0"/>
                        </a:rPr>
                        <a:t>&lt;15k</a:t>
                      </a: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00" dirty="0" err="1">
                          <a:latin typeface="Calibri" charset="0"/>
                          <a:ea typeface="Calibri" charset="0"/>
                          <a:cs typeface="Calibri" charset="0"/>
                        </a:rPr>
                        <a:t>IndiaMart</a:t>
                      </a:r>
                      <a:endParaRPr lang="en-US" sz="11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indent="0">
                        <a:buNone/>
                      </a:pPr>
                      <a:r>
                        <a:rPr lang="en-US" sz="1100" dirty="0">
                          <a:solidFill>
                            <a:srgbClr val="222222"/>
                          </a:solidFill>
                          <a:latin typeface="Calibri" pitchFamily="34" charset="0"/>
                          <a:ea typeface="Calibri" pitchFamily="34" charset="-122"/>
                          <a:cs typeface="Calibri" pitchFamily="34" charset="-120"/>
                        </a:rPr>
                        <a:t>Temperature sensor</a:t>
                      </a:r>
                      <a:endParaRPr lang="en-US" sz="11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00" dirty="0">
                          <a:latin typeface="Calibri" charset="0"/>
                          <a:ea typeface="Calibri" charset="0"/>
                          <a:cs typeface="Calibri" charset="0"/>
                        </a:rPr>
                        <a:t>Thermal camera</a:t>
                      </a: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00" dirty="0">
                          <a:latin typeface="Calibri" charset="0"/>
                          <a:ea typeface="Calibri" charset="0"/>
                          <a:cs typeface="Calibri" charset="0"/>
                        </a:rPr>
                        <a:t>1</a:t>
                      </a: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00" dirty="0">
                          <a:latin typeface="Calibri" charset="0"/>
                          <a:ea typeface="Calibri" charset="0"/>
                          <a:cs typeface="Calibri" charset="0"/>
                        </a:rPr>
                        <a:t>~20k</a:t>
                      </a: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00" dirty="0">
                          <a:latin typeface="Calibri" charset="0"/>
                          <a:ea typeface="Calibri" charset="0"/>
                          <a:cs typeface="Calibri" charset="0"/>
                        </a:rPr>
                        <a:t>Amazon</a:t>
                      </a: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indent="0">
                        <a:buNone/>
                      </a:pPr>
                      <a:r>
                        <a:rPr lang="en-US" sz="1100" dirty="0">
                          <a:solidFill>
                            <a:srgbClr val="222222"/>
                          </a:solidFill>
                          <a:latin typeface="Calibri" pitchFamily="34" charset="0"/>
                          <a:ea typeface="Calibri" pitchFamily="34" charset="-122"/>
                          <a:cs typeface="Calibri" pitchFamily="34" charset="-120"/>
                        </a:rPr>
                        <a:t>Controller</a:t>
                      </a:r>
                      <a:endParaRPr lang="en-US" sz="11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00" dirty="0">
                          <a:latin typeface="Calibri" charset="0"/>
                          <a:ea typeface="Calibri" charset="0"/>
                          <a:cs typeface="Calibri" charset="0"/>
                        </a:rPr>
                        <a:t>PID algorithm controller</a:t>
                      </a: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00" dirty="0">
                          <a:latin typeface="Calibri" charset="0"/>
                          <a:ea typeface="Calibri" charset="0"/>
                          <a:cs typeface="Calibri" charset="0"/>
                        </a:rPr>
                        <a:t>1</a:t>
                      </a: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00" dirty="0">
                          <a:latin typeface="Calibri" charset="0"/>
                          <a:ea typeface="Calibri" charset="0"/>
                          <a:cs typeface="Calibri" charset="0"/>
                        </a:rPr>
                        <a:t>&lt;1.5k(can salvage arm processors and make one)</a:t>
                      </a: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00" dirty="0">
                          <a:latin typeface="Calibri" charset="0"/>
                          <a:ea typeface="Calibri" charset="0"/>
                          <a:cs typeface="Calibri" charset="0"/>
                        </a:rPr>
                        <a:t>Made in fab</a:t>
                      </a: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0">
                <a:tc>
                  <a:txBody>
                    <a:bodyPr/>
                    <a:lstStyle/>
                    <a:p>
                      <a:pPr marL="0" indent="0">
                        <a:buNone/>
                      </a:pPr>
                      <a:r>
                        <a:rPr lang="en-US" sz="1100" dirty="0">
                          <a:solidFill>
                            <a:srgbClr val="222222"/>
                          </a:solidFill>
                          <a:latin typeface="Calibri" pitchFamily="34" charset="0"/>
                          <a:ea typeface="Calibri" pitchFamily="34" charset="-122"/>
                          <a:cs typeface="Calibri" pitchFamily="34" charset="-120"/>
                        </a:rPr>
                        <a:t>SSR / power switch</a:t>
                      </a:r>
                      <a:endParaRPr lang="en-US" sz="11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00" dirty="0">
                          <a:latin typeface="Calibri" charset="0"/>
                          <a:ea typeface="Calibri" charset="0"/>
                          <a:cs typeface="Calibri" charset="0"/>
                        </a:rPr>
                        <a:t>50 Ampere power switch</a:t>
                      </a: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00" dirty="0">
                          <a:latin typeface="Calibri" charset="0"/>
                          <a:ea typeface="Calibri" charset="0"/>
                          <a:cs typeface="Calibri" charset="0"/>
                        </a:rPr>
                        <a:t>1</a:t>
                      </a: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00" dirty="0">
                          <a:latin typeface="Calibri" charset="0"/>
                          <a:ea typeface="Calibri" charset="0"/>
                          <a:cs typeface="Calibri" charset="0"/>
                        </a:rPr>
                        <a:t>~1.2k</a:t>
                      </a: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00" dirty="0" err="1">
                          <a:latin typeface="Calibri" charset="0"/>
                          <a:ea typeface="Calibri" charset="0"/>
                          <a:cs typeface="Calibri" charset="0"/>
                        </a:rPr>
                        <a:t>IndiaMart</a:t>
                      </a:r>
                      <a:endParaRPr lang="en-US" sz="11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0">
                <a:tc>
                  <a:txBody>
                    <a:bodyPr/>
                    <a:lstStyle/>
                    <a:p>
                      <a:pPr marL="0" indent="0">
                        <a:buNone/>
                      </a:pPr>
                      <a:r>
                        <a:rPr lang="en-US" sz="1100" dirty="0">
                          <a:latin typeface="Calibri" charset="0"/>
                          <a:ea typeface="Calibri" charset="0"/>
                          <a:cs typeface="Calibri" charset="0"/>
                        </a:rPr>
                        <a:t>MOSFETS, heat sinks</a:t>
                      </a: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00" dirty="0">
                          <a:latin typeface="Calibri" charset="0"/>
                          <a:ea typeface="Calibri" charset="0"/>
                          <a:cs typeface="Calibri" charset="0"/>
                        </a:rPr>
                        <a:t>Standard issue </a:t>
                      </a:r>
                      <a:r>
                        <a:rPr lang="en-US" sz="1100" dirty="0" err="1">
                          <a:latin typeface="Calibri" charset="0"/>
                          <a:ea typeface="Calibri" charset="0"/>
                          <a:cs typeface="Calibri" charset="0"/>
                        </a:rPr>
                        <a:t>mosfets</a:t>
                      </a:r>
                      <a:endParaRPr lang="en-US" sz="11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00" dirty="0">
                          <a:latin typeface="Calibri" charset="0"/>
                          <a:ea typeface="Calibri" charset="0"/>
                          <a:cs typeface="Calibri" charset="0"/>
                        </a:rPr>
                        <a:t>25</a:t>
                      </a: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00" dirty="0">
                          <a:latin typeface="Calibri" charset="0"/>
                          <a:ea typeface="Calibri" charset="0"/>
                          <a:cs typeface="Calibri" charset="0"/>
                        </a:rPr>
                        <a:t>~5k</a:t>
                      </a: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endParaRPr lang="en-US" sz="11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158731033"/>
                  </a:ext>
                </a:extLst>
              </a:tr>
              <a:tr h="0">
                <a:tc>
                  <a:txBody>
                    <a:bodyPr/>
                    <a:lstStyle/>
                    <a:p>
                      <a:pPr marL="0" indent="0">
                        <a:buNone/>
                      </a:pPr>
                      <a:r>
                        <a:rPr lang="en-US" sz="1100" dirty="0">
                          <a:solidFill>
                            <a:srgbClr val="222222"/>
                          </a:solidFill>
                          <a:latin typeface="Calibri" pitchFamily="34" charset="0"/>
                          <a:ea typeface="Calibri" pitchFamily="34" charset="-122"/>
                          <a:cs typeface="Calibri" pitchFamily="34" charset="-120"/>
                        </a:rPr>
                        <a:t>Insulation + wiring(high heat)</a:t>
                      </a:r>
                      <a:endParaRPr lang="en-US" sz="11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00" dirty="0">
                          <a:latin typeface="Calibri" charset="0"/>
                          <a:ea typeface="Calibri" charset="0"/>
                          <a:cs typeface="Calibri" charset="0"/>
                        </a:rPr>
                        <a:t>Calcium silicate + </a:t>
                      </a:r>
                      <a:r>
                        <a:rPr lang="en-US" sz="1100" dirty="0" err="1">
                          <a:latin typeface="Calibri" charset="0"/>
                          <a:ea typeface="Calibri" charset="0"/>
                          <a:cs typeface="Calibri" charset="0"/>
                        </a:rPr>
                        <a:t>FibreGlass</a:t>
                      </a:r>
                      <a:r>
                        <a:rPr lang="en-US" sz="1100" dirty="0">
                          <a:latin typeface="Calibri" charset="0"/>
                          <a:ea typeface="Calibri" charset="0"/>
                          <a:cs typeface="Calibri" charset="0"/>
                        </a:rPr>
                        <a:t> cables</a:t>
                      </a: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00" dirty="0">
                          <a:latin typeface="Calibri" charset="0"/>
                          <a:ea typeface="Calibri" charset="0"/>
                          <a:cs typeface="Calibri" charset="0"/>
                        </a:rPr>
                        <a:t>1</a:t>
                      </a: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00" dirty="0">
                          <a:latin typeface="Calibri" charset="0"/>
                          <a:ea typeface="Calibri" charset="0"/>
                          <a:cs typeface="Calibri" charset="0"/>
                        </a:rPr>
                        <a:t>~1k</a:t>
                      </a: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00" dirty="0" err="1">
                          <a:latin typeface="Calibri" charset="0"/>
                          <a:ea typeface="Calibri" charset="0"/>
                          <a:cs typeface="Calibri" charset="0"/>
                        </a:rPr>
                        <a:t>IndiaMart</a:t>
                      </a:r>
                      <a:endParaRPr lang="en-US" sz="11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0">
                <a:tc>
                  <a:txBody>
                    <a:bodyPr/>
                    <a:lstStyle/>
                    <a:p>
                      <a:pPr marL="0" indent="0">
                        <a:buNone/>
                      </a:pPr>
                      <a:r>
                        <a:rPr lang="en-US" sz="1100" dirty="0">
                          <a:latin typeface="Calibri" charset="0"/>
                          <a:ea typeface="Calibri" charset="0"/>
                          <a:cs typeface="Calibri" charset="0"/>
                        </a:rPr>
                        <a:t>PT 100s</a:t>
                      </a: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00" dirty="0">
                          <a:latin typeface="Calibri" charset="0"/>
                          <a:ea typeface="Calibri" charset="0"/>
                          <a:cs typeface="Calibri" charset="0"/>
                        </a:rPr>
                        <a:t>Heat sensors for accurate temperature measurement</a:t>
                      </a: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00" dirty="0">
                          <a:latin typeface="Calibri" charset="0"/>
                          <a:ea typeface="Calibri" charset="0"/>
                          <a:cs typeface="Calibri" charset="0"/>
                        </a:rPr>
                        <a:t>2</a:t>
                      </a: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00" dirty="0">
                          <a:latin typeface="Calibri" charset="0"/>
                          <a:ea typeface="Calibri" charset="0"/>
                          <a:cs typeface="Calibri" charset="0"/>
                        </a:rPr>
                        <a:t>~2-4k</a:t>
                      </a: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endParaRPr lang="en-US" sz="11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3410000771"/>
                  </a:ext>
                </a:extLst>
              </a:tr>
              <a:tr h="0">
                <a:tc>
                  <a:txBody>
                    <a:bodyPr/>
                    <a:lstStyle/>
                    <a:p>
                      <a:pPr marL="0" indent="0">
                        <a:buNone/>
                      </a:pPr>
                      <a:r>
                        <a:rPr lang="en-US" sz="1100" dirty="0">
                          <a:latin typeface="Calibri" charset="0"/>
                          <a:ea typeface="Calibri" charset="0"/>
                          <a:cs typeface="Calibri" charset="0"/>
                        </a:rPr>
                        <a:t>24V power supply</a:t>
                      </a: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00" dirty="0">
                          <a:latin typeface="Calibri" charset="0"/>
                          <a:ea typeface="Calibri" charset="0"/>
                          <a:cs typeface="Calibri" charset="0"/>
                        </a:rPr>
                        <a:t>24 volt supply for 25 heaters</a:t>
                      </a: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00" dirty="0">
                          <a:latin typeface="Calibri" charset="0"/>
                          <a:ea typeface="Calibri" charset="0"/>
                          <a:cs typeface="Calibri" charset="0"/>
                        </a:rPr>
                        <a:t>1</a:t>
                      </a: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00" dirty="0">
                          <a:latin typeface="Calibri" charset="0"/>
                          <a:ea typeface="Calibri" charset="0"/>
                          <a:cs typeface="Calibri" charset="0"/>
                        </a:rPr>
                        <a:t>~10k</a:t>
                      </a: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endParaRPr lang="en-US" sz="11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2960972181"/>
                  </a:ext>
                </a:extLst>
              </a:tr>
              <a:tr h="0">
                <a:tc>
                  <a:txBody>
                    <a:bodyPr/>
                    <a:lstStyle/>
                    <a:p>
                      <a:pPr marL="0" indent="0">
                        <a:buNone/>
                      </a:pPr>
                      <a:r>
                        <a:rPr lang="en-US" sz="1100" dirty="0">
                          <a:latin typeface="Calibri" charset="0"/>
                          <a:ea typeface="Calibri" charset="0"/>
                          <a:cs typeface="Calibri" charset="0"/>
                        </a:rPr>
                        <a:t>PWM driver boards</a:t>
                      </a: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00" dirty="0">
                          <a:latin typeface="Calibri" charset="0"/>
                          <a:ea typeface="Calibri" charset="0"/>
                          <a:cs typeface="Calibri" charset="0"/>
                        </a:rPr>
                        <a:t>16-channel </a:t>
                      </a:r>
                      <a:r>
                        <a:rPr lang="en-US" sz="1100" dirty="0" err="1">
                          <a:latin typeface="Calibri" charset="0"/>
                          <a:ea typeface="Calibri" charset="0"/>
                          <a:cs typeface="Calibri" charset="0"/>
                        </a:rPr>
                        <a:t>pwm</a:t>
                      </a:r>
                      <a:r>
                        <a:rPr lang="en-US" sz="1100" dirty="0">
                          <a:latin typeface="Calibri" charset="0"/>
                          <a:ea typeface="Calibri" charset="0"/>
                          <a:cs typeface="Calibri" charset="0"/>
                        </a:rPr>
                        <a:t> driver boards ()</a:t>
                      </a: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00" dirty="0">
                          <a:latin typeface="Calibri" charset="0"/>
                          <a:ea typeface="Calibri" charset="0"/>
                          <a:cs typeface="Calibri" charset="0"/>
                        </a:rPr>
                        <a:t>2</a:t>
                      </a: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00" dirty="0">
                          <a:latin typeface="Calibri" charset="0"/>
                          <a:ea typeface="Calibri" charset="0"/>
                          <a:cs typeface="Calibri" charset="0"/>
                        </a:rPr>
                        <a:t>~500-1k</a:t>
                      </a: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endParaRPr lang="en-US" sz="11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969959236"/>
                  </a:ext>
                </a:extLst>
              </a:tr>
              <a:tr h="0">
                <a:tc>
                  <a:txBody>
                    <a:bodyPr/>
                    <a:lstStyle/>
                    <a:p>
                      <a:pPr marL="0" indent="0">
                        <a:buNone/>
                      </a:pPr>
                      <a:r>
                        <a:rPr lang="en-US" sz="1100" dirty="0">
                          <a:solidFill>
                            <a:srgbClr val="222222"/>
                          </a:solidFill>
                          <a:latin typeface="Calibri" pitchFamily="34" charset="0"/>
                          <a:ea typeface="Calibri" pitchFamily="34" charset="-122"/>
                          <a:cs typeface="Calibri" pitchFamily="34" charset="-120"/>
                        </a:rPr>
                        <a:t>Total</a:t>
                      </a:r>
                      <a:endParaRPr lang="en-US" sz="11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endParaRPr lang="en-US" sz="11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endParaRPr lang="en-US" sz="11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00" dirty="0">
                          <a:latin typeface="Calibri" charset="0"/>
                          <a:ea typeface="Calibri" charset="0"/>
                          <a:cs typeface="Calibri" charset="0"/>
                        </a:rPr>
                        <a:t>~65k</a:t>
                      </a: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00" dirty="0">
                          <a:latin typeface="Calibri" charset="0"/>
                          <a:ea typeface="Calibri" charset="0"/>
                          <a:cs typeface="Calibri" charset="0"/>
                        </a:rPr>
                        <a:t>ME </a:t>
                      </a:r>
                      <a:r>
                        <a:rPr lang="en-US" sz="1100" dirty="0">
                          <a:latin typeface="Calibri" charset="0"/>
                          <a:ea typeface="Calibri" charset="0"/>
                          <a:cs typeface="Calibri" charset="0"/>
                          <a:sym typeface="Wingdings" panose="05000000000000000000" pitchFamily="2" charset="2"/>
                        </a:rPr>
                        <a:t> (i can do math)</a:t>
                      </a:r>
                      <a:endParaRPr lang="en-US" sz="1100" dirty="0">
                        <a:latin typeface="Calibri" charset="0"/>
                        <a:ea typeface="Calibri" charset="0"/>
                        <a:cs typeface="Calibri"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bl>
          </a:graphicData>
        </a:graphic>
      </p:graphicFrame>
      <p:sp>
        <p:nvSpPr>
          <p:cNvPr id="25" name="Slide Number Placeholder 0"/>
          <p:cNvSpPr>
            <a:spLocks noGrp="1"/>
          </p:cNvSpPr>
          <p:nvPr>
            <p:ph type="sldNum" sz="quarter" idx="4294967295"/>
          </p:nvPr>
        </p:nvSpPr>
        <p:spPr>
          <a:xfrm>
            <a:off x="8412480" y="4846320"/>
            <a:ext cx="800000" cy="30000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55555"/>
                </a:solidFill>
              </a:defRPr>
            </a:lvl1pPr>
          </a:lstStyle>
          <a:p>
            <a:pPr algn="l"/>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57200" y="109728"/>
            <a:ext cx="8229600" cy="603504"/>
          </a:xfrm>
          <a:prstGeom prst="rect">
            <a:avLst/>
          </a:prstGeom>
          <a:noFill/>
          <a:ln/>
        </p:spPr>
        <p:txBody>
          <a:bodyPr wrap="square" lIns="0" tIns="0" rIns="0" bIns="0" rtlCol="0" anchor="ctr"/>
          <a:lstStyle/>
          <a:p>
            <a:pPr marL="0" indent="0">
              <a:buNone/>
            </a:pPr>
            <a:r>
              <a:rPr lang="en-US" sz="2400" b="1" dirty="0">
                <a:solidFill>
                  <a:srgbClr val="FFFFFF"/>
                </a:solidFill>
                <a:latin typeface="Calibri" pitchFamily="34" charset="0"/>
                <a:ea typeface="Calibri" pitchFamily="34" charset="-122"/>
                <a:cs typeface="Calibri" pitchFamily="34" charset="-120"/>
              </a:rPr>
              <a:t> Assembly Instructions</a:t>
            </a:r>
            <a:endParaRPr lang="en-US" sz="2400" dirty="0"/>
          </a:p>
        </p:txBody>
      </p:sp>
      <p:sp>
        <p:nvSpPr>
          <p:cNvPr id="3" name="Text 1"/>
          <p:cNvSpPr txBox="1"/>
          <p:nvPr/>
        </p:nvSpPr>
        <p:spPr>
          <a:xfrm>
            <a:off x="548640" y="1097280"/>
            <a:ext cx="8046720" cy="3566160"/>
          </a:xfrm>
          <a:prstGeom prst="rect">
            <a:avLst/>
          </a:prstGeom>
          <a:noFill/>
          <a:ln/>
        </p:spPr>
        <p:txBody>
          <a:bodyPr wrap="square" rtlCol="0" anchor="t"/>
          <a:lstStyle/>
          <a:p>
            <a:pPr marL="342900" indent="-342900">
              <a:spcAft>
                <a:spcPts val="600"/>
              </a:spcAft>
              <a:buSzPct val="100000"/>
              <a:buChar char="•"/>
            </a:pPr>
            <a:r>
              <a:rPr lang="en-US" sz="1500" dirty="0">
                <a:solidFill>
                  <a:srgbClr val="222222"/>
                </a:solidFill>
                <a:latin typeface="Calibri" pitchFamily="34" charset="0"/>
                <a:ea typeface="Calibri" pitchFamily="34" charset="-122"/>
                <a:cs typeface="Calibri" pitchFamily="34" charset="-120"/>
              </a:rPr>
              <a:t>Prepare and inspect the plate (flatness, hole positions)</a:t>
            </a:r>
            <a:endParaRPr lang="en-US" sz="1500" dirty="0"/>
          </a:p>
          <a:p>
            <a:pPr marL="342900" indent="-342900">
              <a:spcAft>
                <a:spcPts val="600"/>
              </a:spcAft>
              <a:buSzPct val="100000"/>
              <a:buChar char="•"/>
            </a:pPr>
            <a:r>
              <a:rPr lang="en-US" sz="1500" dirty="0">
                <a:solidFill>
                  <a:srgbClr val="222222"/>
                </a:solidFill>
                <a:latin typeface="Calibri" pitchFamily="34" charset="0"/>
                <a:ea typeface="Calibri" pitchFamily="34" charset="-122"/>
                <a:cs typeface="Calibri" pitchFamily="34" charset="-120"/>
              </a:rPr>
              <a:t>Install heater(s) and sensor(s)</a:t>
            </a:r>
            <a:endParaRPr lang="en-US" sz="1500" dirty="0"/>
          </a:p>
          <a:p>
            <a:pPr marL="342900" indent="-342900">
              <a:spcAft>
                <a:spcPts val="600"/>
              </a:spcAft>
              <a:buSzPct val="100000"/>
              <a:buChar char="•"/>
            </a:pPr>
            <a:r>
              <a:rPr lang="en-US" sz="1500" dirty="0">
                <a:solidFill>
                  <a:srgbClr val="222222"/>
                </a:solidFill>
                <a:latin typeface="Calibri" pitchFamily="34" charset="0"/>
                <a:ea typeface="Calibri" pitchFamily="34" charset="-122"/>
                <a:cs typeface="Calibri" pitchFamily="34" charset="-120"/>
              </a:rPr>
              <a:t>Mount plate on thermal-isolation standoffs, fit insulation</a:t>
            </a:r>
            <a:endParaRPr lang="en-US" sz="1500" dirty="0"/>
          </a:p>
          <a:p>
            <a:pPr marL="342900" indent="-342900">
              <a:spcAft>
                <a:spcPts val="600"/>
              </a:spcAft>
              <a:buSzPct val="100000"/>
              <a:buChar char="•"/>
            </a:pPr>
            <a:r>
              <a:rPr lang="en-US" sz="1500" dirty="0">
                <a:solidFill>
                  <a:srgbClr val="222222"/>
                </a:solidFill>
                <a:latin typeface="Calibri" pitchFamily="34" charset="0"/>
                <a:ea typeface="Calibri" pitchFamily="34" charset="-122"/>
                <a:cs typeface="Calibri" pitchFamily="34" charset="-120"/>
              </a:rPr>
              <a:t>Wire power stage and safety cutoffs; connect controller and camera</a:t>
            </a:r>
            <a:endParaRPr lang="en-US" sz="1500" dirty="0"/>
          </a:p>
          <a:p>
            <a:pPr marL="342900" indent="-342900">
              <a:spcAft>
                <a:spcPts val="600"/>
              </a:spcAft>
              <a:buSzPct val="100000"/>
              <a:buChar char="•"/>
            </a:pPr>
            <a:r>
              <a:rPr lang="en-US" sz="1500" dirty="0">
                <a:solidFill>
                  <a:srgbClr val="222222"/>
                </a:solidFill>
                <a:latin typeface="Calibri" pitchFamily="34" charset="0"/>
                <a:ea typeface="Calibri" pitchFamily="34" charset="-122"/>
                <a:cs typeface="Calibri" pitchFamily="34" charset="-120"/>
              </a:rPr>
              <a:t>First power-up checks, then calibration and tuning</a:t>
            </a:r>
            <a:endParaRPr lang="en-US" sz="1500" dirty="0"/>
          </a:p>
        </p:txBody>
      </p:sp>
      <p:sp>
        <p:nvSpPr>
          <p:cNvPr id="25" name="Slide Number Placeholder 0"/>
          <p:cNvSpPr>
            <a:spLocks noGrp="1"/>
          </p:cNvSpPr>
          <p:nvPr>
            <p:ph type="sldNum" sz="quarter" idx="4294967295"/>
          </p:nvPr>
        </p:nvSpPr>
        <p:spPr>
          <a:xfrm>
            <a:off x="8412480" y="4846320"/>
            <a:ext cx="800000" cy="30000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55555"/>
                </a:solidFill>
              </a:defRPr>
            </a:lvl1pPr>
          </a:lstStyle>
          <a:p>
            <a:pPr algn="l"/>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57200" y="109728"/>
            <a:ext cx="8229600" cy="603504"/>
          </a:xfrm>
          <a:prstGeom prst="rect">
            <a:avLst/>
          </a:prstGeom>
          <a:noFill/>
          <a:ln/>
        </p:spPr>
        <p:txBody>
          <a:bodyPr wrap="square" lIns="0" tIns="0" rIns="0" bIns="0" rtlCol="0" anchor="ctr"/>
          <a:lstStyle/>
          <a:p>
            <a:pPr marL="0" indent="0">
              <a:buNone/>
            </a:pPr>
            <a:r>
              <a:rPr lang="en-US" sz="2400" b="1" dirty="0">
                <a:solidFill>
                  <a:srgbClr val="FFFFFF"/>
                </a:solidFill>
                <a:latin typeface="Calibri" pitchFamily="34" charset="0"/>
                <a:ea typeface="Calibri" pitchFamily="34" charset="-122"/>
                <a:cs typeface="Calibri" pitchFamily="34" charset="-120"/>
              </a:rPr>
              <a:t> Risks, Conclusion and References</a:t>
            </a:r>
            <a:endParaRPr lang="en-US" sz="2400" dirty="0"/>
          </a:p>
        </p:txBody>
      </p:sp>
      <p:sp>
        <p:nvSpPr>
          <p:cNvPr id="3" name="Text 1"/>
          <p:cNvSpPr txBox="1"/>
          <p:nvPr/>
        </p:nvSpPr>
        <p:spPr>
          <a:xfrm>
            <a:off x="548640" y="1097280"/>
            <a:ext cx="8046720" cy="3566160"/>
          </a:xfrm>
          <a:prstGeom prst="rect">
            <a:avLst/>
          </a:prstGeom>
          <a:noFill/>
          <a:ln/>
        </p:spPr>
        <p:txBody>
          <a:bodyPr wrap="square" rtlCol="0" anchor="t"/>
          <a:lstStyle/>
          <a:p>
            <a:pPr marL="342900" indent="-342900">
              <a:spcAft>
                <a:spcPts val="600"/>
              </a:spcAft>
              <a:buSzPct val="100000"/>
              <a:buChar char="•"/>
            </a:pPr>
            <a:r>
              <a:rPr lang="en-US" sz="1500" dirty="0">
                <a:solidFill>
                  <a:srgbClr val="222222"/>
                </a:solidFill>
                <a:latin typeface="Calibri" pitchFamily="34" charset="0"/>
                <a:ea typeface="Calibri" pitchFamily="34" charset="-122"/>
                <a:cs typeface="Calibri" pitchFamily="34" charset="-120"/>
              </a:rPr>
              <a:t>Risks and limitations: oxidation, warping at 400 C</a:t>
            </a:r>
          </a:p>
          <a:p>
            <a:pPr marL="342900" indent="-342900">
              <a:spcAft>
                <a:spcPts val="600"/>
              </a:spcAft>
              <a:buSzPct val="100000"/>
              <a:buChar char="•"/>
            </a:pPr>
            <a:r>
              <a:rPr lang="en-US" sz="1500" dirty="0">
                <a:solidFill>
                  <a:srgbClr val="222222"/>
                </a:solidFill>
                <a:latin typeface="Calibri" pitchFamily="34" charset="0"/>
                <a:ea typeface="Calibri" pitchFamily="34" charset="-122"/>
                <a:cs typeface="Calibri" pitchFamily="34" charset="-120"/>
              </a:rPr>
              <a:t>Camera catches noise which has nothing to do with the wafer</a:t>
            </a:r>
            <a:endParaRPr lang="en-US" sz="1500" dirty="0"/>
          </a:p>
          <a:p>
            <a:pPr marL="342900" indent="-342900">
              <a:spcAft>
                <a:spcPts val="600"/>
              </a:spcAft>
              <a:buSzPct val="100000"/>
              <a:buChar char="•"/>
            </a:pPr>
            <a:r>
              <a:rPr lang="en-US" sz="1500" dirty="0">
                <a:solidFill>
                  <a:srgbClr val="222222"/>
                </a:solidFill>
                <a:latin typeface="Calibri" pitchFamily="34" charset="0"/>
                <a:ea typeface="Calibri" pitchFamily="34" charset="-122"/>
                <a:cs typeface="Calibri" pitchFamily="34" charset="-120"/>
              </a:rPr>
              <a:t>The design fulfills the 0.5C I checked by running a simulation on a standard LLM (Claude and </a:t>
            </a:r>
            <a:r>
              <a:rPr lang="en-US" sz="1500" dirty="0" err="1">
                <a:solidFill>
                  <a:srgbClr val="222222"/>
                </a:solidFill>
                <a:latin typeface="Calibri" pitchFamily="34" charset="0"/>
                <a:ea typeface="Calibri" pitchFamily="34" charset="-122"/>
                <a:cs typeface="Calibri" pitchFamily="34" charset="-120"/>
              </a:rPr>
              <a:t>chatgpt</a:t>
            </a:r>
            <a:r>
              <a:rPr lang="en-US" sz="1500" dirty="0">
                <a:solidFill>
                  <a:srgbClr val="222222"/>
                </a:solidFill>
                <a:latin typeface="Calibri" pitchFamily="34" charset="0"/>
                <a:ea typeface="Calibri" pitchFamily="34" charset="-122"/>
                <a:cs typeface="Calibri" pitchFamily="34" charset="-120"/>
              </a:rPr>
              <a:t> both)</a:t>
            </a:r>
          </a:p>
          <a:p>
            <a:pPr marL="342900" indent="-342900">
              <a:spcAft>
                <a:spcPts val="600"/>
              </a:spcAft>
              <a:buSzPct val="100000"/>
              <a:buChar char="•"/>
            </a:pPr>
            <a:r>
              <a:rPr lang="en-US" sz="1500" dirty="0">
                <a:solidFill>
                  <a:srgbClr val="222222"/>
                </a:solidFill>
                <a:latin typeface="Calibri" pitchFamily="34" charset="0"/>
                <a:ea typeface="Calibri" pitchFamily="34" charset="-122"/>
                <a:cs typeface="Calibri" pitchFamily="34" charset="-120"/>
              </a:rPr>
              <a:t>References: LLMs, Wikipedia, </a:t>
            </a:r>
            <a:r>
              <a:rPr lang="en-US" sz="1500" dirty="0" err="1">
                <a:solidFill>
                  <a:srgbClr val="222222"/>
                </a:solidFill>
                <a:latin typeface="Calibri" pitchFamily="34" charset="0"/>
                <a:ea typeface="Calibri" pitchFamily="34" charset="-122"/>
                <a:cs typeface="Calibri" pitchFamily="34" charset="-120"/>
              </a:rPr>
              <a:t>Youtube</a:t>
            </a:r>
            <a:r>
              <a:rPr lang="en-US" sz="1500" dirty="0">
                <a:solidFill>
                  <a:srgbClr val="222222"/>
                </a:solidFill>
                <a:latin typeface="Calibri" pitchFamily="34" charset="0"/>
                <a:ea typeface="Calibri" pitchFamily="34" charset="-122"/>
                <a:cs typeface="Calibri" pitchFamily="34" charset="-120"/>
              </a:rPr>
              <a:t>, </a:t>
            </a:r>
            <a:r>
              <a:rPr lang="en-US" sz="1500" dirty="0" err="1">
                <a:solidFill>
                  <a:srgbClr val="222222"/>
                </a:solidFill>
                <a:latin typeface="Calibri" pitchFamily="34" charset="0"/>
                <a:ea typeface="Calibri" pitchFamily="34" charset="-122"/>
                <a:cs typeface="Calibri" pitchFamily="34" charset="-120"/>
              </a:rPr>
              <a:t>IndiaMart</a:t>
            </a:r>
            <a:r>
              <a:rPr lang="en-US" sz="1500" dirty="0">
                <a:solidFill>
                  <a:srgbClr val="222222"/>
                </a:solidFill>
                <a:latin typeface="Calibri" pitchFamily="34" charset="0"/>
                <a:ea typeface="Calibri" pitchFamily="34" charset="-122"/>
                <a:cs typeface="Calibri" pitchFamily="34" charset="-120"/>
              </a:rPr>
              <a:t>, </a:t>
            </a:r>
            <a:r>
              <a:rPr lang="en-US" sz="1500" dirty="0" err="1">
                <a:solidFill>
                  <a:srgbClr val="222222"/>
                </a:solidFill>
                <a:latin typeface="Calibri" pitchFamily="34" charset="0"/>
                <a:ea typeface="Calibri" pitchFamily="34" charset="-122"/>
                <a:cs typeface="Calibri" pitchFamily="34" charset="-120"/>
              </a:rPr>
              <a:t>allaboutcircuits</a:t>
            </a:r>
            <a:r>
              <a:rPr lang="en-US" sz="1500" dirty="0">
                <a:solidFill>
                  <a:srgbClr val="222222"/>
                </a:solidFill>
                <a:latin typeface="Calibri" pitchFamily="34" charset="0"/>
                <a:ea typeface="Calibri" pitchFamily="34" charset="-122"/>
                <a:cs typeface="Calibri" pitchFamily="34" charset="-120"/>
              </a:rPr>
              <a:t> </a:t>
            </a:r>
            <a:endParaRPr lang="en-US" sz="1500" dirty="0"/>
          </a:p>
        </p:txBody>
      </p:sp>
      <p:sp>
        <p:nvSpPr>
          <p:cNvPr id="25" name="Slide Number Placeholder 0"/>
          <p:cNvSpPr>
            <a:spLocks noGrp="1"/>
          </p:cNvSpPr>
          <p:nvPr>
            <p:ph type="sldNum" sz="quarter" idx="4294967295"/>
          </p:nvPr>
        </p:nvSpPr>
        <p:spPr>
          <a:xfrm>
            <a:off x="8412480" y="4846320"/>
            <a:ext cx="800000" cy="30000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55555"/>
                </a:solidFill>
              </a:defRPr>
            </a:lvl1pPr>
          </a:lstStyle>
          <a:p>
            <a:pPr algn="l"/>
            <a:fld id="{F7021451-1387-4CA6-816F-3879F97B5CBC}" type="slidenum">
              <a:rPr lang="en-US" b="0"/>
              <a:t>12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261</TotalTime>
  <Words>916</Words>
  <Application>Microsoft Office PowerPoint</Application>
  <PresentationFormat>On-screen Show (16:9)</PresentationFormat>
  <Paragraphs>126</Paragraphs>
  <Slides>12</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Hot Plate Design Report Template</dc:title>
  <dc:subject>PptxGenJS Presentation</dc:subject>
  <dc:creator>PptxGenJS</dc:creator>
  <cp:lastModifiedBy>Jayashre Rao</cp:lastModifiedBy>
  <cp:revision>4</cp:revision>
  <dcterms:created xsi:type="dcterms:W3CDTF">2026-10-24T18:21:35Z</dcterms:created>
  <dcterms:modified xsi:type="dcterms:W3CDTF">2026-10-25T07:41:24Z</dcterms:modified>
</cp:coreProperties>
</file>